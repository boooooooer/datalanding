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18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s_proteomics_202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s_proteomics_202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365D"/>
            </a:gs>
            <a:gs pos="60000">
              <a:srgbClr val="1E3D59"/>
            </a:gs>
            <a:gs pos="100000">
              <a:schemeClr val="accent1">
                <a:alpha val="25098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4953000" cy="6858000"/>
            <a:chOff x="0" y="0"/>
            <a:chExt cx="4953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4953000" cy="6858000"/>
            </a:xfrm>
            <a:prstGeom prst="rect">
              <a:avLst/>
            </a:prstGeom>
            <a:solidFill>
              <a:srgbClr val="1A365D">
                <a:alpha val="97000"/>
              </a:srgbClr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11430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2950" y="1467802"/>
            <a:ext cx="5515060" cy="1915287"/>
            <a:chOff x="742950" y="1467802"/>
            <a:chExt cx="5515060" cy="1915287"/>
          </a:xfrm>
        </p:grpSpPr>
        <p:sp>
          <p:nvSpPr>
            <p:cNvPr id="5" name="TextBox 5"/>
            <p:cNvSpPr txBox="1"/>
            <p:nvPr/>
          </p:nvSpPr>
          <p:spPr>
            <a:xfrm>
              <a:off x="742950" y="1467802"/>
              <a:ext cx="5515060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F7F4EF"/>
                  </a:solidFill>
                  <a:latin typeface="+mn-lt"/>
                  <a:ea typeface="+mn-ea"/>
                  <a:cs typeface="+mn-cs"/>
                </a:rPr>
                <a:t>Mass Spectrometry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2950" y="2134552"/>
              <a:ext cx="3175730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F7F4EF"/>
                  </a:solidFill>
                  <a:latin typeface="+mn-lt"/>
                  <a:ea typeface="+mn-ea"/>
                  <a:cs typeface="+mn-cs"/>
                </a:rPr>
                <a:t>Proteomics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3618" y="3060382"/>
              <a:ext cx="2177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质谱蛋白质组学技术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6285" y="3974306"/>
            <a:ext cx="4105607" cy="473583"/>
            <a:chOff x="756285" y="3974306"/>
            <a:chExt cx="4105607" cy="473583"/>
          </a:xfrm>
        </p:grpSpPr>
        <p:sp>
          <p:nvSpPr>
            <p:cNvPr id="9" name="TextBox 9"/>
            <p:cNvSpPr txBox="1"/>
            <p:nvPr/>
          </p:nvSpPr>
          <p:spPr>
            <a:xfrm>
              <a:off x="756285" y="3974306"/>
              <a:ext cx="28449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7F4EF">
                      <a:alphaMod val="70000"/>
                    </a:srgbClr>
                  </a:solidFill>
                  <a:latin typeface="+mn-lt"/>
                  <a:ea typeface="+mn-ea"/>
                  <a:cs typeface="+mn-cs"/>
                </a:rPr>
                <a:t>Principles, Technologies &amp; Applications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047" y="4257199"/>
              <a:ext cx="41048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F7F4E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Bottom-Up Proteomics — From Sample to Differential Abundance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953000" y="0"/>
            <a:ext cx="7239000" cy="6858000"/>
            <a:chOff x="4953000" y="0"/>
            <a:chExt cx="7239000" cy="6858000"/>
          </a:xfrm>
        </p:grpSpPr>
        <p:sp>
          <p:nvSpPr>
            <p:cNvPr id="12" name="Rectangle 12"/>
            <p:cNvSpPr/>
            <p:nvPr/>
          </p:nvSpPr>
          <p:spPr>
            <a:xfrm>
              <a:off x="4953000" y="0"/>
              <a:ext cx="7239000" cy="68580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667500" y="1524000"/>
              <a:ext cx="3810000" cy="3810000"/>
            </a:xfrm>
            <a:prstGeom prst="ellipse">
              <a:avLst/>
            </a:prstGeom>
            <a:noFill/>
            <a:ln w="4762">
              <a:solidFill>
                <a:schemeClr val="accent5">
                  <a:alpha val="30000"/>
                </a:scheme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239000" y="2095500"/>
              <a:ext cx="2667000" cy="2667000"/>
            </a:xfrm>
            <a:prstGeom prst="ellipse">
              <a:avLst/>
            </a:prstGeom>
            <a:noFill/>
            <a:ln w="4762">
              <a:solidFill>
                <a:schemeClr val="accent5">
                  <a:alpha val="20000"/>
                </a:schemeClr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810500" y="2667000"/>
              <a:ext cx="1524000" cy="1524000"/>
            </a:xfrm>
            <a:prstGeom prst="ellipse">
              <a:avLst/>
            </a:prstGeom>
            <a:noFill/>
            <a:ln w="4762">
              <a:solidFill>
                <a:schemeClr val="accent2">
                  <a:alpha val="30000"/>
                </a:schemeClr>
              </a:solidFill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9900217" y="6578441"/>
            <a:ext cx="191554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7F4EF">
                    <a:alphaMod val="40000"/>
                  </a:srgbClr>
                </a:solidFill>
                <a:latin typeface="+mn-lt"/>
                <a:ea typeface="+mn-ea"/>
                <a:cs typeface="+mn-cs"/>
              </a:rPr>
              <a:t>Technical Background Review ·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8284" y="280035"/>
            <a:ext cx="7469038" cy="669226"/>
            <a:chOff x="748284" y="280035"/>
            <a:chExt cx="7469038" cy="669226"/>
          </a:xfrm>
        </p:grpSpPr>
        <p:sp>
          <p:nvSpPr>
            <p:cNvPr id="2" name="TextBox 2"/>
            <p:cNvSpPr txBox="1"/>
            <p:nvPr/>
          </p:nvSpPr>
          <p:spPr>
            <a:xfrm>
              <a:off x="748284" y="280035"/>
              <a:ext cx="74690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Core Principles of MS-Based Proteomics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6666" y="743902"/>
              <a:ext cx="5916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Complete workflow from biological sample to protein identification and quantification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1238250"/>
            <a:ext cx="10668000" cy="952500"/>
            <a:chOff x="762000" y="1238250"/>
            <a:chExt cx="10668000" cy="952500"/>
          </a:xfrm>
        </p:grpSpPr>
        <p:sp>
          <p:nvSpPr>
            <p:cNvPr id="5" name="Rectangle 5"/>
            <p:cNvSpPr/>
            <p:nvPr/>
          </p:nvSpPr>
          <p:spPr>
            <a:xfrm>
              <a:off x="762000" y="1238250"/>
              <a:ext cx="2286000" cy="952500"/>
            </a:xfrm>
            <a:prstGeom prst="roundRect">
              <a:avLst>
                <a:gd name="adj" fmla="val 8000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238250"/>
              <a:ext cx="2286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00644" y="1489710"/>
              <a:ext cx="16087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Sample Preparation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67330" y="1788795"/>
              <a:ext cx="12753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Cell Lysis / Reduction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0905" y="1960245"/>
              <a:ext cx="11681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Alkylation / Cleanup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143250" y="1714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3381375" y="1666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571875" y="1238250"/>
              <a:ext cx="2286000" cy="952500"/>
            </a:xfrm>
            <a:prstGeom prst="roundRect">
              <a:avLst>
                <a:gd name="adj" fmla="val 8000"/>
              </a:avLst>
            </a:prstGeom>
            <a:solidFill>
              <a:schemeClr val="accent5">
                <a:alpha val="12000"/>
              </a:scheme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571875" y="1238250"/>
              <a:ext cx="2286000" cy="3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995600" y="1489710"/>
              <a:ext cx="1438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Trypsin Digestion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39927" y="1788795"/>
              <a:ext cx="11498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Enzymatic Cleavage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84125" y="1960245"/>
              <a:ext cx="14615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Peptide Mixture (~100K)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953125" y="1714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6191250" y="1666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81750" y="1238250"/>
              <a:ext cx="2286000" cy="952500"/>
            </a:xfrm>
            <a:prstGeom prst="roundRect">
              <a:avLst>
                <a:gd name="adj" fmla="val 8000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381750" y="1238250"/>
              <a:ext cx="2286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33756" y="1489710"/>
              <a:ext cx="1581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LC-MS/MS Analysis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86312" y="1788795"/>
              <a:ext cx="14768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ESI Ionization / Orbitrap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82034" y="1960245"/>
              <a:ext cx="14854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MS1 → HCD → MS2 Spectra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763000" y="1714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9001125" y="1666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191625" y="1238250"/>
              <a:ext cx="2238375" cy="952500"/>
            </a:xfrm>
            <a:prstGeom prst="roundRect">
              <a:avLst>
                <a:gd name="adj" fmla="val 8000"/>
              </a:avLst>
            </a:prstGeom>
            <a:solidFill>
              <a:schemeClr val="accent5">
                <a:alpha val="12000"/>
              </a:scheme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191625" y="1238250"/>
              <a:ext cx="2238375" cy="3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761571" y="1489710"/>
              <a:ext cx="11080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Data Analysis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16333" y="1788795"/>
              <a:ext cx="15984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Database Search (FDR&lt;1%)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12474" y="1960245"/>
              <a:ext cx="16062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Protein ID &amp; Quantification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2667000"/>
            <a:ext cx="22845607" cy="1619250"/>
            <a:chOff x="762000" y="2667000"/>
            <a:chExt cx="22845607" cy="1619250"/>
          </a:xfrm>
        </p:grpSpPr>
        <p:sp>
          <p:nvSpPr>
            <p:cNvPr id="32" name="Rectangle 32"/>
            <p:cNvSpPr/>
            <p:nvPr/>
          </p:nvSpPr>
          <p:spPr>
            <a:xfrm>
              <a:off x="762000" y="2667000"/>
              <a:ext cx="3524250" cy="161925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2000" y="2667000"/>
              <a:ext cx="35242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5642" y="2807018"/>
              <a:ext cx="2754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Electrospray Ionization (ESI)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7547" y="3133249"/>
              <a:ext cx="145238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High-voltage electric field generates charged droplets from liquid sample. Solvent evaporation produces multiply-charged gas-phase ions, enabling analysis of large biomolecules including intact proteins and peptide mixtures.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7738" y="3712845"/>
              <a:ext cx="24045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7155" indent="-97155" algn="l">
                <a:buClr>
                  <a:schemeClr val="accent6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Standard interface for LC-MS coupling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7738" y="3922395"/>
              <a:ext cx="23085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7155" indent="-97155" algn="l">
                <a:buClr>
                  <a:schemeClr val="accent6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Soft ionization preserves labile PTMs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476750" y="2667000"/>
              <a:ext cx="3524250" cy="161925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4476750" y="2667000"/>
              <a:ext cx="3524250" cy="3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660392" y="2807018"/>
              <a:ext cx="2226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Orbitrap Mass Analyzer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62297" y="3133249"/>
              <a:ext cx="144624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Ions orbit around a central electrode; their axial oscillation frequencies are detected via Fourier transform. Resolution exceeds 240,000 (FWHM) with mass accuracy below 1 ppm — the gold standard for shotgun proteomics.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62488" y="3712845"/>
              <a:ext cx="16954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7155" indent="-97155" algn="l">
                <a:buClr>
                  <a:schemeClr val="accent6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Resolution &gt;240K @ m/z 200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62488" y="3922395"/>
              <a:ext cx="27523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7155" indent="-97155" algn="l">
                <a:buClr>
                  <a:schemeClr val="accent6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Mass accuracy &lt;1 ppm (external calibration)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0" y="2667000"/>
              <a:ext cx="3238500" cy="161925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191500" y="2667000"/>
              <a:ext cx="32385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75142" y="2807018"/>
              <a:ext cx="20953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Acquisition Strategies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77047" y="3133249"/>
              <a:ext cx="152305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DDA selects top-N precursors for fragmentation by abundance. DIA fragments all precursors across fixed m/z windows, achieving &gt;90% inter-run reproducibility versus DDA's ~60%. DIA-NN and Spectronaut enable library-free analysis.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77238" y="3712845"/>
              <a:ext cx="16015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7155" indent="-97155" algn="l">
                <a:buClr>
                  <a:schemeClr val="accent6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DDA: Deep but stochastic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77238" y="3922395"/>
              <a:ext cx="21341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7155" indent="-97155" algn="l">
                <a:buClr>
                  <a:schemeClr val="accent6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DIA: Reproducible &amp; comprehensive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62000" y="4572000"/>
            <a:ext cx="10668000" cy="952500"/>
            <a:chOff x="762000" y="4572000"/>
            <a:chExt cx="10668000" cy="952500"/>
          </a:xfrm>
        </p:grpSpPr>
        <p:sp>
          <p:nvSpPr>
            <p:cNvPr id="51" name="Rectangle 51"/>
            <p:cNvSpPr/>
            <p:nvPr/>
          </p:nvSpPr>
          <p:spPr>
            <a:xfrm>
              <a:off x="762000" y="4572000"/>
              <a:ext cx="10668000" cy="952500"/>
            </a:xfrm>
            <a:prstGeom prst="roundRect">
              <a:avLst>
                <a:gd name="adj" fmla="val 6000"/>
              </a:avLst>
            </a:prstGeom>
            <a:solidFill>
              <a:srgbClr val="EBF0F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20051" y="4692015"/>
              <a:ext cx="138889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&gt;240K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3505" y="5217795"/>
              <a:ext cx="11219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Resolution (FWHM)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606741" y="4692015"/>
              <a:ext cx="154951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&lt;1 ppm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942569" y="5217795"/>
              <a:ext cx="8778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Mass Accuracy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33804" y="469201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10,000+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82906" y="5217795"/>
              <a:ext cx="11311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Proteins Identified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11585" y="4692015"/>
              <a:ext cx="180783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DDA/DIA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23007" y="5217795"/>
              <a:ext cx="11849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Dual-Mode Strategy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839314" y="6586538"/>
            <a:ext cx="976449" cy="147638"/>
            <a:chOff x="10839314" y="6586538"/>
            <a:chExt cx="976449" cy="147638"/>
          </a:xfrm>
        </p:grpSpPr>
        <p:sp>
          <p:nvSpPr>
            <p:cNvPr id="61" name="TextBox 61"/>
            <p:cNvSpPr txBox="1"/>
            <p:nvPr/>
          </p:nvSpPr>
          <p:spPr>
            <a:xfrm>
              <a:off x="10839314" y="6586538"/>
              <a:ext cx="97644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A0AEC0"/>
                  </a:solidFill>
                  <a:latin typeface="+mn-lt"/>
                  <a:ea typeface="+mn-ea"/>
                  <a:cs typeface="+mn-cs"/>
                </a:rPr>
                <a:t>02 — Core Principles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8284" y="280035"/>
            <a:ext cx="5955092" cy="669226"/>
            <a:chOff x="748284" y="280035"/>
            <a:chExt cx="5955092" cy="669226"/>
          </a:xfrm>
        </p:grpSpPr>
        <p:sp>
          <p:nvSpPr>
            <p:cNvPr id="2" name="TextBox 2"/>
            <p:cNvSpPr txBox="1"/>
            <p:nvPr/>
          </p:nvSpPr>
          <p:spPr>
            <a:xfrm>
              <a:off x="748284" y="280035"/>
              <a:ext cx="533948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Key Technologies: DDA vs DIA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6666" y="743902"/>
              <a:ext cx="5946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Literature-Based Comparison of Data Acquisition Strategies in Bottom-Up Proteomics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238250"/>
            <a:ext cx="13663213" cy="3200400"/>
            <a:chOff x="762000" y="1238250"/>
            <a:chExt cx="13663213" cy="3200400"/>
          </a:xfrm>
        </p:grpSpPr>
        <p:sp>
          <p:nvSpPr>
            <p:cNvPr id="5" name="Rectangle 5"/>
            <p:cNvSpPr/>
            <p:nvPr/>
          </p:nvSpPr>
          <p:spPr>
            <a:xfrm>
              <a:off x="762000" y="1238250"/>
              <a:ext cx="5143500" cy="342900"/>
            </a:xfrm>
            <a:prstGeom prst="roundRect">
              <a:avLst>
                <a:gd name="adj" fmla="val 11111"/>
              </a:avLst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6404" y="1337310"/>
              <a:ext cx="2777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DDA — Data-Dependent Acquisition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1676400"/>
              <a:ext cx="5143500" cy="1714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7166" y="1810702"/>
              <a:ext cx="6379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Principle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7738" y="2055495"/>
              <a:ext cx="134774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MS1 full scan selects top-N most abundant precursor ions for sequential isolation and MS/MS fragmentation. Resulting spectra are matched against protein sequence databases (e.g., UniProt) to identify peptides at FDR &lt; 1%.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7166" y="2439352"/>
              <a:ext cx="1126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Key Advantages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7738" y="2665095"/>
              <a:ext cx="37615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7155" indent="-97155" algn="l">
                <a:buClr>
                  <a:srgbClr val="4A5568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Mature ecosystem: MaxQuant, Proteome Discoverer, Mascot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7738" y="2855595"/>
              <a:ext cx="26126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7155" indent="-97155" algn="l">
                <a:buClr>
                  <a:srgbClr val="4A5568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Deep proteome coverage in discovery mode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7738" y="3046095"/>
              <a:ext cx="39995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7155" indent="-97155" algn="l">
                <a:buClr>
                  <a:srgbClr val="4A5568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Well-established statistical frameworks for differential analysis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486150"/>
              <a:ext cx="5143500" cy="952500"/>
            </a:xfrm>
            <a:prstGeom prst="roundRect">
              <a:avLst>
                <a:gd name="adj" fmla="val 6000"/>
              </a:avLst>
            </a:prstGeom>
            <a:solidFill>
              <a:srgbClr val="EBF0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7547" y="3628549"/>
              <a:ext cx="10159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Key Literature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7738" y="3873341"/>
              <a:ext cx="41883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Aebersold &amp; Mann, 2003, Nature — Defined the shotgun proteomics framework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738" y="4082891"/>
              <a:ext cx="48480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Cox &amp; Mann, 2008, Nat. Biotechnol. — MaxQuant: high-resolution quantitative proteomics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1238250"/>
            <a:ext cx="14346652" cy="3200400"/>
            <a:chOff x="6286500" y="1238250"/>
            <a:chExt cx="14346652" cy="3200400"/>
          </a:xfrm>
        </p:grpSpPr>
        <p:sp>
          <p:nvSpPr>
            <p:cNvPr id="19" name="Rectangle 19"/>
            <p:cNvSpPr/>
            <p:nvPr/>
          </p:nvSpPr>
          <p:spPr>
            <a:xfrm>
              <a:off x="6286500" y="1238250"/>
              <a:ext cx="5143500" cy="342900"/>
            </a:xfrm>
            <a:prstGeom prst="roundRect">
              <a:avLst>
                <a:gd name="adj" fmla="val 11111"/>
              </a:avLst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70904" y="1337310"/>
              <a:ext cx="287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DIA — Data-Independent Acquisition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1676400"/>
              <a:ext cx="5143500" cy="1714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71666" y="1810702"/>
              <a:ext cx="6379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Principle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2238" y="2055495"/>
              <a:ext cx="141609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MS1 scan followed by systematic fragmentation of all precursors within fixed m/z isolation windows across the full mass range. All fragment ions are recorded without bias — creating a complete digital record of every detectable peptide.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1666" y="2439352"/>
              <a:ext cx="1126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Key Advantages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2238" y="2665095"/>
              <a:ext cx="30364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7155" indent="-97155" algn="l">
                <a:buClr>
                  <a:srgbClr val="4A5568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&gt;90% inter-run reproducibility (vs ~60% for DDA)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72238" y="2855595"/>
              <a:ext cx="31302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7155" indent="-97155" algn="l">
                <a:buClr>
                  <a:srgbClr val="4A5568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Quantification CV typically &lt;10% for most proteins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72238" y="3046095"/>
              <a:ext cx="33095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7155" indent="-97155" algn="l">
                <a:buClr>
                  <a:srgbClr val="4A5568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Library-free analysis: DIA-NN, Spectronaut directDIA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86500" y="3486150"/>
              <a:ext cx="5143500" cy="952500"/>
            </a:xfrm>
            <a:prstGeom prst="roundRect">
              <a:avLst>
                <a:gd name="adj" fmla="val 6000"/>
              </a:avLst>
            </a:prstGeom>
            <a:solidFill>
              <a:srgbClr val="EBF0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72047" y="3628549"/>
              <a:ext cx="10159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Key Literature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72238" y="3873341"/>
              <a:ext cx="43979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Gillet et al., 2012, MCP — SWATH-MS: targeted data extraction from DIA spectra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72238" y="4082891"/>
              <a:ext cx="45596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Demichev et al., 2020, Nat. Methods — DIA-NN: deep learning for proteome coverage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4667250"/>
            <a:ext cx="10668000" cy="952500"/>
            <a:chOff x="762000" y="4667250"/>
            <a:chExt cx="10668000" cy="952500"/>
          </a:xfrm>
        </p:grpSpPr>
        <p:sp>
          <p:nvSpPr>
            <p:cNvPr id="33" name="Rectangle 33"/>
            <p:cNvSpPr/>
            <p:nvPr/>
          </p:nvSpPr>
          <p:spPr>
            <a:xfrm>
              <a:off x="762000" y="4667250"/>
              <a:ext cx="1066800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2000" y="4667250"/>
              <a:ext cx="10668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6404" y="4823460"/>
              <a:ext cx="16087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Emerging Frontiers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7738" y="5122545"/>
              <a:ext cx="95289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Ion Mobility Spectrometry (timsTOF/FAIMS): CCS-based 4th dimension separation enables diaPASEF for ultra-deep coverage (Meier et al., 2018, Nat. Methods)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7738" y="5351145"/>
              <a:ext cx="96847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Single-Cell Proteomics: SCoPE2 multiplexing, N2 carrier proteome, TMT-based quantification — pushing sensitivity to single-cell resolution (Slavov, 2020, Science)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8284" y="280035"/>
            <a:ext cx="7330045" cy="669226"/>
            <a:chOff x="748284" y="280035"/>
            <a:chExt cx="7330045" cy="669226"/>
          </a:xfrm>
        </p:grpSpPr>
        <p:sp>
          <p:nvSpPr>
            <p:cNvPr id="2" name="TextBox 2"/>
            <p:cNvSpPr txBox="1"/>
            <p:nvPr/>
          </p:nvSpPr>
          <p:spPr>
            <a:xfrm>
              <a:off x="748284" y="280035"/>
              <a:ext cx="73300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Technology Platforms &amp; Future Outlook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6666" y="743902"/>
              <a:ext cx="45674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Instrument Capability Matrix and Proteomics Technology Evolution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1238250"/>
            <a:ext cx="3429000" cy="2095500"/>
            <a:chOff x="762000" y="1238250"/>
            <a:chExt cx="3429000" cy="2095500"/>
          </a:xfrm>
        </p:grpSpPr>
        <p:sp>
          <p:nvSpPr>
            <p:cNvPr id="5" name="Rectangle 5"/>
            <p:cNvSpPr/>
            <p:nvPr/>
          </p:nvSpPr>
          <p:spPr>
            <a:xfrm>
              <a:off x="762000" y="1238250"/>
              <a:ext cx="3429000" cy="2095500"/>
            </a:xfrm>
            <a:prstGeom prst="roundRect">
              <a:avLst>
                <a:gd name="adj" fmla="val 272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238250"/>
              <a:ext cx="34290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4880" y="1438275"/>
              <a:ext cx="1661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Orbitrap Astral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7738" y="1750695"/>
              <a:ext cx="14624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A0AEC0"/>
                  </a:solidFill>
                  <a:latin typeface="+mn-lt"/>
                  <a:ea typeface="+mn-ea"/>
                  <a:cs typeface="+mn-cs"/>
                </a:rPr>
                <a:t>Thermo Fisher Scientific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52500" y="20002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7547" y="2161699"/>
              <a:ext cx="23714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Resolution: &gt;240K (FWHM) @ m/z 200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7547" y="2409349"/>
              <a:ext cx="25192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Scan Speed: &gt;200 Hz (Astral detector)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7547" y="2656999"/>
              <a:ext cx="25274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Mass Accuracy: &lt;1 ppm (external cal.)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7547" y="2904649"/>
              <a:ext cx="2836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Ideal for: Deep proteome / TMT multiplexing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81500" y="1238250"/>
            <a:ext cx="3429000" cy="2095500"/>
            <a:chOff x="4381500" y="1238250"/>
            <a:chExt cx="3429000" cy="2095500"/>
          </a:xfrm>
        </p:grpSpPr>
        <p:sp>
          <p:nvSpPr>
            <p:cNvPr id="15" name="Rectangle 15"/>
            <p:cNvSpPr/>
            <p:nvPr/>
          </p:nvSpPr>
          <p:spPr>
            <a:xfrm>
              <a:off x="4381500" y="1238250"/>
              <a:ext cx="3429000" cy="2095500"/>
            </a:xfrm>
            <a:prstGeom prst="roundRect">
              <a:avLst>
                <a:gd name="adj" fmla="val 272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81500" y="1238250"/>
              <a:ext cx="3429000" cy="571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64380" y="1438275"/>
              <a:ext cx="1484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timsTOF Ultra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7238" y="1750695"/>
              <a:ext cx="9922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A0AEC0"/>
                  </a:solidFill>
                  <a:latin typeface="+mn-lt"/>
                  <a:ea typeface="+mn-ea"/>
                  <a:cs typeface="+mn-cs"/>
                </a:rPr>
                <a:t>Bruker Daltonics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572000" y="20002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67047" y="2161699"/>
              <a:ext cx="22345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CCS Dimension: Ion mobility (TIMS)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7047" y="2409349"/>
              <a:ext cx="13093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Scan Speed: &gt;120 Hz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7047" y="2656999"/>
              <a:ext cx="22408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diaPASEF: 4D proteomics workflow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67047" y="2904649"/>
              <a:ext cx="27689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Ideal for: Single-cell / high-sensitivity DIA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001000" y="1238250"/>
            <a:ext cx="3429000" cy="2095500"/>
            <a:chOff x="8001000" y="1238250"/>
            <a:chExt cx="3429000" cy="2095500"/>
          </a:xfrm>
        </p:grpSpPr>
        <p:sp>
          <p:nvSpPr>
            <p:cNvPr id="25" name="Rectangle 25"/>
            <p:cNvSpPr/>
            <p:nvPr/>
          </p:nvSpPr>
          <p:spPr>
            <a:xfrm>
              <a:off x="8001000" y="1238250"/>
              <a:ext cx="3429000" cy="2095500"/>
            </a:xfrm>
            <a:prstGeom prst="roundRect">
              <a:avLst>
                <a:gd name="adj" fmla="val 272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01000" y="1238250"/>
              <a:ext cx="34290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83880" y="1438275"/>
              <a:ext cx="1569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ZenoTOF 7600+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86738" y="1750695"/>
              <a:ext cx="329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A0AEC0"/>
                  </a:solidFill>
                  <a:latin typeface="+mn-lt"/>
                  <a:ea typeface="+mn-ea"/>
                  <a:cs typeface="+mn-cs"/>
                </a:rPr>
                <a:t>SCIEX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191500" y="20002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86547" y="2161699"/>
              <a:ext cx="2314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Sensitivity: Zeno trap enhancement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86547" y="2409349"/>
              <a:ext cx="25068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SWATH DIA: Mature, robust ecosystem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86547" y="2656999"/>
              <a:ext cx="26704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Throughput: Optimized for large cohorts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86547" y="2904649"/>
              <a:ext cx="27030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Ideal for: Clinical / population proteomics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3619500"/>
            <a:ext cx="10668000" cy="1247776"/>
            <a:chOff x="762000" y="3619500"/>
            <a:chExt cx="10668000" cy="1247776"/>
          </a:xfrm>
        </p:grpSpPr>
        <p:sp>
          <p:nvSpPr>
            <p:cNvPr id="35" name="Rectangle 35"/>
            <p:cNvSpPr/>
            <p:nvPr/>
          </p:nvSpPr>
          <p:spPr>
            <a:xfrm>
              <a:off x="762000" y="3619500"/>
              <a:ext cx="106680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6404" y="3794760"/>
              <a:ext cx="2427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Technology Evolution Timeline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1143000" y="4429125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466850" y="43719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391739" y="4578191"/>
              <a:ext cx="264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2003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1378" y="4719638"/>
              <a:ext cx="98524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Shotgun Proteomics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3371850" y="43719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96739" y="4578191"/>
              <a:ext cx="264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2012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32188" y="4719638"/>
              <a:ext cx="79362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SWATH-MS / DIA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276850" y="4371975"/>
              <a:ext cx="114300" cy="114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01739" y="4578191"/>
              <a:ext cx="264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93958" y="4719638"/>
              <a:ext cx="6800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diaPASEF / 4D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181850" y="4371975"/>
              <a:ext cx="114300" cy="114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06739" y="4578191"/>
              <a:ext cx="264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53177" y="4719638"/>
              <a:ext cx="9716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DIA-NN / AI Analysis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9086850" y="437197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979864" y="4578191"/>
              <a:ext cx="3282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2024+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89397" y="4719638"/>
              <a:ext cx="110920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Single-Cell Proteomics</a:t>
              </a:r>
            </a:p>
          </p:txBody>
        </p:sp>
        <p:sp>
          <p:nvSpPr>
            <p:cNvPr id="53" name="Polygon 53"/>
            <p:cNvSpPr/>
            <p:nvPr/>
          </p:nvSpPr>
          <p:spPr>
            <a:xfrm>
              <a:off x="11144250" y="4381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663238" y="4586288"/>
              <a:ext cx="34585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Future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5048250"/>
            <a:ext cx="15423512" cy="762000"/>
            <a:chOff x="762000" y="5048250"/>
            <a:chExt cx="15423512" cy="762000"/>
          </a:xfrm>
        </p:grpSpPr>
        <p:sp>
          <p:nvSpPr>
            <p:cNvPr id="56" name="Rectangle 56"/>
            <p:cNvSpPr/>
            <p:nvPr/>
          </p:nvSpPr>
          <p:spPr>
            <a:xfrm>
              <a:off x="762000" y="5048250"/>
              <a:ext cx="10668000" cy="762000"/>
            </a:xfrm>
            <a:prstGeom prst="roundRect">
              <a:avLst>
                <a:gd name="adj" fmla="val 7500"/>
              </a:avLst>
            </a:prstGeom>
            <a:solidFill>
              <a:srgbClr val="EBF0F3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46785" y="5212556"/>
              <a:ext cx="85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Core Trend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7547" y="5495449"/>
              <a:ext cx="15237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The field is transitioning from DDA to DIA, integrating ion mobility as a 4th dimension, and embracing AI-driven data analysis. Single-cell proteomics and large clinical cohort studies represent the two most critical application frontiers.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ms_proteomics_2026">
  <a:themeElements>
    <a:clrScheme name="ms_proteomics_2026">
      <a:dk1>
        <a:srgbClr val="1A202C"/>
      </a:dk1>
      <a:lt1>
        <a:srgbClr val="F7F4EF"/>
      </a:lt1>
      <a:dk2>
        <a:srgbClr val="1A202C"/>
      </a:dk2>
      <a:lt2>
        <a:srgbClr val="F7F4EF"/>
      </a:lt2>
      <a:accent1>
        <a:srgbClr val="2C5282"/>
      </a:accent1>
      <a:accent2>
        <a:srgbClr val="C0784A"/>
      </a:accent2>
      <a:accent3>
        <a:srgbClr val="C0784A"/>
      </a:accent3>
      <a:accent4>
        <a:srgbClr val="2C5282"/>
      </a:accent4>
      <a:accent5>
        <a:srgbClr val="4A7A8C"/>
      </a:accent5>
      <a:accent6>
        <a:srgbClr val="718096"/>
      </a:accent6>
      <a:hlink>
        <a:srgbClr val="C0784A"/>
      </a:hlink>
      <a:folHlink>
        <a:srgbClr val="C0784A"/>
      </a:folHlink>
    </a:clrScheme>
    <a:fontScheme name="ms_proteomics_202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s_proteomics_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726</Words>
  <Application>Microsoft Office PowerPoint</Application>
  <PresentationFormat>宽屏</PresentationFormat>
  <Paragraphs>100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6" baseType="lpstr">
      <vt:lpstr>Arial</vt:lpstr>
      <vt:lpstr>ms_proteomics_2026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Tianbo Ma</cp:lastModifiedBy>
  <cp:revision>2</cp:revision>
  <dcterms:created xsi:type="dcterms:W3CDTF">2026-07-24T17:00:55Z</dcterms:created>
  <dcterms:modified xsi:type="dcterms:W3CDTF">2026-07-24T17:02:58Z</dcterms:modified>
  <cp:category/>
  <cp:contentStatus/>
  <dc:language/>
</cp:coreProperties>
</file>