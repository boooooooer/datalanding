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s_proteomics_202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s_proteomics_202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365D"/>
            </a:gs>
            <a:gs pos="60000">
              <a:srgbClr val="1E3D59"/>
            </a:gs>
            <a:gs pos="100000">
              <a:schemeClr val="accent1">
                <a:alpha val="25098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4953000" cy="6858000"/>
            <a:chOff x="0" y="0"/>
            <a:chExt cx="4953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4953000" cy="6858000"/>
            </a:xfrm>
            <a:prstGeom prst="rect">
              <a:avLst/>
            </a:prstGeom>
            <a:solidFill>
              <a:srgbClr val="1A365D">
                <a:alpha val="97000"/>
              </a:srgbClr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762000" y="11430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42950" y="1467802"/>
            <a:ext cx="5515060" cy="1915287"/>
            <a:chOff x="742950" y="1467802"/>
            <a:chExt cx="5515060" cy="1915287"/>
          </a:xfrm>
        </p:grpSpPr>
        <p:sp>
          <p:nvSpPr>
            <p:cNvPr id="5" name="TextBox 5"/>
            <p:cNvSpPr txBox="1"/>
            <p:nvPr/>
          </p:nvSpPr>
          <p:spPr>
            <a:xfrm>
              <a:off x="742950" y="1467802"/>
              <a:ext cx="5515060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rgbClr val="F7F4EF"/>
                  </a:solidFill>
                  <a:latin typeface="+mn-lt"/>
                  <a:ea typeface="+mn-ea"/>
                  <a:cs typeface="+mn-cs"/>
                </a:rPr>
                <a:t>Mass Spectrometry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2950" y="2134552"/>
              <a:ext cx="3175730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rgbClr val="F7F4EF"/>
                  </a:solidFill>
                  <a:latin typeface="+mn-lt"/>
                  <a:ea typeface="+mn-ea"/>
                  <a:cs typeface="+mn-cs"/>
                </a:rPr>
                <a:t>Proteomics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3618" y="3060382"/>
              <a:ext cx="21774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质谱蛋白质组学技术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6285" y="3974306"/>
            <a:ext cx="4105607" cy="473583"/>
            <a:chOff x="756285" y="3974306"/>
            <a:chExt cx="4105607" cy="473583"/>
          </a:xfrm>
        </p:grpSpPr>
        <p:sp>
          <p:nvSpPr>
            <p:cNvPr id="9" name="TextBox 9"/>
            <p:cNvSpPr txBox="1"/>
            <p:nvPr/>
          </p:nvSpPr>
          <p:spPr>
            <a:xfrm>
              <a:off x="756285" y="3974306"/>
              <a:ext cx="28449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7F4EF">
                      <a:alphaMod val="70000"/>
                    </a:srgbClr>
                  </a:solidFill>
                  <a:latin typeface="+mn-lt"/>
                  <a:ea typeface="+mn-ea"/>
                  <a:cs typeface="+mn-cs"/>
                </a:rPr>
                <a:t>Principles, Technologies &amp; Applications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7047" y="4257199"/>
              <a:ext cx="41048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F7F4EF">
                      <a:alphaMod val="50000"/>
                    </a:srgbClr>
                  </a:solidFill>
                  <a:latin typeface="+mn-lt"/>
                  <a:ea typeface="+mn-ea"/>
                  <a:cs typeface="+mn-cs"/>
                </a:rPr>
                <a:t>Bottom-Up Proteomics — From Sample to Differential Abundance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953000" y="0"/>
            <a:ext cx="7239000" cy="6858000"/>
            <a:chOff x="4953000" y="0"/>
            <a:chExt cx="7239000" cy="6858000"/>
          </a:xfrm>
        </p:grpSpPr>
        <p:sp>
          <p:nvSpPr>
            <p:cNvPr id="12" name="Rectangle 12"/>
            <p:cNvSpPr/>
            <p:nvPr/>
          </p:nvSpPr>
          <p:spPr>
            <a:xfrm>
              <a:off x="4953000" y="0"/>
              <a:ext cx="7239000" cy="68580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6667500" y="1524000"/>
              <a:ext cx="3810000" cy="3810000"/>
            </a:xfrm>
            <a:prstGeom prst="ellipse">
              <a:avLst/>
            </a:prstGeom>
            <a:noFill/>
            <a:ln w="4762">
              <a:solidFill>
                <a:schemeClr val="accent5">
                  <a:alpha val="30000"/>
                </a:schemeClr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239000" y="2095500"/>
              <a:ext cx="2667000" cy="2667000"/>
            </a:xfrm>
            <a:prstGeom prst="ellipse">
              <a:avLst/>
            </a:prstGeom>
            <a:noFill/>
            <a:ln w="4762">
              <a:solidFill>
                <a:schemeClr val="accent5">
                  <a:alpha val="20000"/>
                </a:schemeClr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7810500" y="2667000"/>
              <a:ext cx="1524000" cy="1524000"/>
            </a:xfrm>
            <a:prstGeom prst="ellipse">
              <a:avLst/>
            </a:prstGeom>
            <a:noFill/>
            <a:ln w="4762">
              <a:solidFill>
                <a:schemeClr val="accent2">
                  <a:alpha val="30000"/>
                </a:schemeClr>
              </a:solidFill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9900217" y="6578441"/>
            <a:ext cx="191554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F7F4EF">
                    <a:alphaMod val="40000"/>
                  </a:srgbClr>
                </a:solidFill>
                <a:latin typeface="+mn-lt"/>
                <a:ea typeface="+mn-ea"/>
                <a:cs typeface="+mn-cs"/>
              </a:rPr>
              <a:t>Technical Background Review · 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48284" y="280035"/>
            <a:ext cx="7469038" cy="669226"/>
            <a:chOff x="748284" y="280035"/>
            <a:chExt cx="7469038" cy="669226"/>
          </a:xfrm>
        </p:grpSpPr>
        <p:sp>
          <p:nvSpPr>
            <p:cNvPr id="2" name="TextBox 2"/>
            <p:cNvSpPr txBox="1"/>
            <p:nvPr/>
          </p:nvSpPr>
          <p:spPr>
            <a:xfrm>
              <a:off x="748284" y="280035"/>
              <a:ext cx="74690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Core Principles of MS-Based Proteomics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6666" y="743902"/>
              <a:ext cx="59164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Complete workflow from biological sample to protein identification and quantification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1238250"/>
            <a:ext cx="10668000" cy="952500"/>
            <a:chOff x="762000" y="1238250"/>
            <a:chExt cx="10668000" cy="952500"/>
          </a:xfrm>
        </p:grpSpPr>
        <p:sp>
          <p:nvSpPr>
            <p:cNvPr id="5" name="Rectangle 5"/>
            <p:cNvSpPr/>
            <p:nvPr/>
          </p:nvSpPr>
          <p:spPr>
            <a:xfrm>
              <a:off x="762000" y="1238250"/>
              <a:ext cx="2286000" cy="952500"/>
            </a:xfrm>
            <a:prstGeom prst="roundRect">
              <a:avLst>
                <a:gd name="adj" fmla="val 8000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762000" y="1238250"/>
              <a:ext cx="22860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00644" y="1489710"/>
              <a:ext cx="16087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Sample Preparation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67330" y="1788795"/>
              <a:ext cx="12753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Cell Lysis / Reduction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20905" y="1960245"/>
              <a:ext cx="11681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Alkylation / Cleanup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3143250" y="1714500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3381375" y="1666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3571875" y="1238250"/>
              <a:ext cx="2286000" cy="952500"/>
            </a:xfrm>
            <a:prstGeom prst="roundRect">
              <a:avLst>
                <a:gd name="adj" fmla="val 8000"/>
              </a:avLst>
            </a:prstGeom>
            <a:solidFill>
              <a:schemeClr val="accent5">
                <a:alpha val="12000"/>
              </a:schemeClr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571875" y="1238250"/>
              <a:ext cx="2286000" cy="38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995600" y="1489710"/>
              <a:ext cx="14385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Trypsin Digestion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39927" y="1788795"/>
              <a:ext cx="11498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Enzymatic Cleavage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84125" y="1960245"/>
              <a:ext cx="14615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Peptide Mixture (~100K)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953125" y="1714500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6191250" y="1666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381750" y="1238250"/>
              <a:ext cx="2286000" cy="952500"/>
            </a:xfrm>
            <a:prstGeom prst="roundRect">
              <a:avLst>
                <a:gd name="adj" fmla="val 8000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381750" y="1238250"/>
              <a:ext cx="22860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33756" y="1489710"/>
              <a:ext cx="15819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LC-MS/MS Analysis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86312" y="1788795"/>
              <a:ext cx="14768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ESI Ionization / Orbitrap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82034" y="1960245"/>
              <a:ext cx="14854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MS1 → HCD → MS2 Spectra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763000" y="1714500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9001125" y="1666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9191625" y="1238250"/>
              <a:ext cx="2238375" cy="952500"/>
            </a:xfrm>
            <a:prstGeom prst="roundRect">
              <a:avLst>
                <a:gd name="adj" fmla="val 8000"/>
              </a:avLst>
            </a:prstGeom>
            <a:solidFill>
              <a:schemeClr val="accent5">
                <a:alpha val="12000"/>
              </a:schemeClr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191625" y="1238250"/>
              <a:ext cx="2238375" cy="38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761571" y="1489710"/>
              <a:ext cx="11080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Data Analysis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16333" y="1788795"/>
              <a:ext cx="15984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Database Search (FDR&lt;1%)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12474" y="1960245"/>
              <a:ext cx="16062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Protein ID &amp; Quantification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62000" y="2667000"/>
            <a:ext cx="22845607" cy="1619250"/>
            <a:chOff x="762000" y="2667000"/>
            <a:chExt cx="22845607" cy="1619250"/>
          </a:xfrm>
        </p:grpSpPr>
        <p:sp>
          <p:nvSpPr>
            <p:cNvPr id="32" name="Rectangle 32"/>
            <p:cNvSpPr/>
            <p:nvPr/>
          </p:nvSpPr>
          <p:spPr>
            <a:xfrm>
              <a:off x="762000" y="2667000"/>
              <a:ext cx="3524250" cy="161925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62000" y="2667000"/>
              <a:ext cx="35242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45642" y="2807018"/>
              <a:ext cx="2754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Electrospray Ionization (ESI)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7547" y="3133249"/>
              <a:ext cx="145238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High-voltage electric field generates charged droplets from liquid sample. Solvent evaporation produces multiply-charged gas-phase ions, enabling analysis of large biomolecules including intact proteins and peptide mixtures.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7738" y="3712845"/>
              <a:ext cx="24045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chemeClr val="accent6"/>
                </a:buClr>
                <a:buSzTx/>
                <a:buFontTx/>
                <a:buChar char="•"/>
              </a:pPr>
              <a:r>
                <a:rPr lang="en-US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Standard interface for LC-MS coupling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7738" y="3922395"/>
              <a:ext cx="23085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chemeClr val="accent6"/>
                </a:buClr>
                <a:buSzTx/>
                <a:buFontTx/>
                <a:buChar char="•"/>
              </a:pPr>
              <a:r>
                <a:rPr lang="en-US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Soft ionization preserves labile PTMs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476750" y="2667000"/>
              <a:ext cx="3524250" cy="161925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4476750" y="2667000"/>
              <a:ext cx="3524250" cy="38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660392" y="2807018"/>
              <a:ext cx="2226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Orbitrap Mass Analyzer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62297" y="3133249"/>
              <a:ext cx="144624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Ions orbit around a central electrode; their axial oscillation frequencies are detected via Fourier transform. Resolution exceeds 240,000 (FWHM) with mass accuracy below 1 ppm — the gold standard for shotgun proteomics.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62488" y="3712845"/>
              <a:ext cx="16954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chemeClr val="accent6"/>
                </a:buClr>
                <a:buSzTx/>
                <a:buFontTx/>
                <a:buChar char="•"/>
              </a:pPr>
              <a:r>
                <a:rPr lang="en-US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Resolution &gt;240K @ m/z 200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62488" y="3922395"/>
              <a:ext cx="275232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chemeClr val="accent6"/>
                </a:buClr>
                <a:buSzTx/>
                <a:buFontTx/>
                <a:buChar char="•"/>
              </a:pPr>
              <a:r>
                <a:rPr lang="en-US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Mass accuracy &lt;1 ppm (external calibration)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191500" y="2667000"/>
              <a:ext cx="3238500" cy="161925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191500" y="2667000"/>
              <a:ext cx="32385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375142" y="2807018"/>
              <a:ext cx="20953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Acquisition Strategies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77047" y="3133249"/>
              <a:ext cx="152305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DDA selects top-N precursors for fragmentation by abundance. DIA fragments all precursors across fixed m/z windows, achieving &gt;90% inter-run reproducibility versus DDA's ~60%. DIA-NN and Spectronaut enable library-free analysis.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77238" y="3712845"/>
              <a:ext cx="16015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chemeClr val="accent6"/>
                </a:buClr>
                <a:buSzTx/>
                <a:buFontTx/>
                <a:buChar char="•"/>
              </a:pPr>
              <a:r>
                <a:rPr lang="en-US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DDA: Deep but stochastic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77238" y="3922395"/>
              <a:ext cx="21341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chemeClr val="accent6"/>
                </a:buClr>
                <a:buSzTx/>
                <a:buFontTx/>
                <a:buChar char="•"/>
              </a:pPr>
              <a:r>
                <a:rPr lang="en-US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DIA: Reproducible &amp; comprehensive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762000" y="4572000"/>
            <a:ext cx="10668000" cy="952500"/>
            <a:chOff x="762000" y="4572000"/>
            <a:chExt cx="10668000" cy="952500"/>
          </a:xfrm>
        </p:grpSpPr>
        <p:sp>
          <p:nvSpPr>
            <p:cNvPr id="51" name="Rectangle 51"/>
            <p:cNvSpPr/>
            <p:nvPr/>
          </p:nvSpPr>
          <p:spPr>
            <a:xfrm>
              <a:off x="762000" y="4572000"/>
              <a:ext cx="10668000" cy="952500"/>
            </a:xfrm>
            <a:prstGeom prst="roundRect">
              <a:avLst>
                <a:gd name="adj" fmla="val 6000"/>
              </a:avLst>
            </a:prstGeom>
            <a:solidFill>
              <a:srgbClr val="EBF0F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20051" y="4692015"/>
              <a:ext cx="138889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&gt;240K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3505" y="5217795"/>
              <a:ext cx="11219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Resolution (FWHM)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606741" y="4692015"/>
              <a:ext cx="154951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&lt;1 ppm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942569" y="5217795"/>
              <a:ext cx="8778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Mass Accuracy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133804" y="4692015"/>
              <a:ext cx="182939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10,000+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82906" y="5217795"/>
              <a:ext cx="11311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Proteins Identified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811585" y="4692015"/>
              <a:ext cx="180783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DDA/DIA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23007" y="5217795"/>
              <a:ext cx="11849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Dual-Mode Strategy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0839314" y="6586538"/>
            <a:ext cx="976449" cy="147638"/>
            <a:chOff x="10839314" y="6586538"/>
            <a:chExt cx="976449" cy="147638"/>
          </a:xfrm>
        </p:grpSpPr>
        <p:sp>
          <p:nvSpPr>
            <p:cNvPr id="61" name="TextBox 61"/>
            <p:cNvSpPr txBox="1"/>
            <p:nvPr/>
          </p:nvSpPr>
          <p:spPr>
            <a:xfrm>
              <a:off x="10839314" y="6586538"/>
              <a:ext cx="97644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rgbClr val="A0AEC0"/>
                  </a:solidFill>
                  <a:latin typeface="+mn-lt"/>
                  <a:ea typeface="+mn-ea"/>
                  <a:cs typeface="+mn-cs"/>
                </a:rPr>
                <a:t>02 — Core Principles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48284" y="280035"/>
            <a:ext cx="5955092" cy="669226"/>
            <a:chOff x="748284" y="280035"/>
            <a:chExt cx="5955092" cy="669226"/>
          </a:xfrm>
        </p:grpSpPr>
        <p:sp>
          <p:nvSpPr>
            <p:cNvPr id="2" name="TextBox 2"/>
            <p:cNvSpPr txBox="1"/>
            <p:nvPr/>
          </p:nvSpPr>
          <p:spPr>
            <a:xfrm>
              <a:off x="748284" y="280035"/>
              <a:ext cx="533948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Key Technologies: DDA vs DIA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6666" y="743902"/>
              <a:ext cx="5946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Literature-Based Comparison of Data Acquisition Strategies in Bottom-Up Proteomics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238250"/>
            <a:ext cx="13663213" cy="3200400"/>
            <a:chOff x="762000" y="1238250"/>
            <a:chExt cx="13663213" cy="3200400"/>
          </a:xfrm>
        </p:grpSpPr>
        <p:sp>
          <p:nvSpPr>
            <p:cNvPr id="5" name="Rectangle 5"/>
            <p:cNvSpPr/>
            <p:nvPr/>
          </p:nvSpPr>
          <p:spPr>
            <a:xfrm>
              <a:off x="762000" y="1238250"/>
              <a:ext cx="5143500" cy="342900"/>
            </a:xfrm>
            <a:prstGeom prst="roundRect">
              <a:avLst>
                <a:gd name="adj" fmla="val 11111"/>
              </a:avLst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46404" y="1337310"/>
              <a:ext cx="2777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DDA — Data-Dependent Acquisition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1676400"/>
              <a:ext cx="5143500" cy="1714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7166" y="1810702"/>
              <a:ext cx="6379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Principle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7738" y="2055495"/>
              <a:ext cx="134774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MS1 full scan selects top-N most abundant precursor ions for sequential isolation and MS/MS fragmentation. Resulting spectra are matched against protein sequence databases (e.g., UniProt) to identify peptides at FDR &lt; 1%.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7166" y="2439352"/>
              <a:ext cx="11260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Key Advantages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7738" y="2665095"/>
              <a:ext cx="37615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4A5568"/>
                </a:buClr>
                <a:buSzTx/>
                <a:buFontTx/>
                <a:buChar char="•"/>
              </a:pPr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Mature ecosystem: MaxQuant, Proteome Discoverer, Mascot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7738" y="2855595"/>
              <a:ext cx="26126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4A5568"/>
                </a:buClr>
                <a:buSzTx/>
                <a:buFontTx/>
                <a:buChar char="•"/>
              </a:pPr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Deep proteome coverage in discovery mode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7738" y="3046095"/>
              <a:ext cx="39995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4A5568"/>
                </a:buClr>
                <a:buSzTx/>
                <a:buFontTx/>
                <a:buChar char="•"/>
              </a:pPr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Well-established statistical frameworks for differential analysis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3486150"/>
              <a:ext cx="5143500" cy="952500"/>
            </a:xfrm>
            <a:prstGeom prst="roundRect">
              <a:avLst>
                <a:gd name="adj" fmla="val 6000"/>
              </a:avLst>
            </a:prstGeom>
            <a:solidFill>
              <a:srgbClr val="EBF0F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7547" y="3628549"/>
              <a:ext cx="10159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Key Literature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7738" y="3873341"/>
              <a:ext cx="41883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Aebersold &amp; Mann, 2003, Nature — Defined the shotgun proteomics framework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7738" y="4082891"/>
              <a:ext cx="48480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Cox &amp; Mann, 2008, Nat. Biotechnol. — MaxQuant: high-resolution quantitative proteomics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86500" y="1238250"/>
            <a:ext cx="14346652" cy="3200400"/>
            <a:chOff x="6286500" y="1238250"/>
            <a:chExt cx="14346652" cy="3200400"/>
          </a:xfrm>
        </p:grpSpPr>
        <p:sp>
          <p:nvSpPr>
            <p:cNvPr id="19" name="Rectangle 19"/>
            <p:cNvSpPr/>
            <p:nvPr/>
          </p:nvSpPr>
          <p:spPr>
            <a:xfrm>
              <a:off x="6286500" y="1238250"/>
              <a:ext cx="5143500" cy="342900"/>
            </a:xfrm>
            <a:prstGeom prst="roundRect">
              <a:avLst>
                <a:gd name="adj" fmla="val 11111"/>
              </a:avLst>
            </a:prstGeom>
            <a:solidFill>
              <a:schemeClr val="accent5">
                <a:alpha val="15000"/>
              </a:scheme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70904" y="1337310"/>
              <a:ext cx="2878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DIA — Data-Independent Acquisition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86500" y="1676400"/>
              <a:ext cx="5143500" cy="1714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71666" y="1810702"/>
              <a:ext cx="6379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Principle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72238" y="2055495"/>
              <a:ext cx="1416091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MS1 scan followed by systematic fragmentation of all precursors within fixed m/z isolation windows across the full mass range. All fragment ions are recorded without bias — creating a complete digital record of every detectable peptide.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71666" y="2439352"/>
              <a:ext cx="11260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Key Advantages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72238" y="2665095"/>
              <a:ext cx="30364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4A5568"/>
                </a:buClr>
                <a:buSzTx/>
                <a:buFontTx/>
                <a:buChar char="•"/>
              </a:pPr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&gt;90% inter-run reproducibility (vs ~60% for DDA)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72238" y="2855595"/>
              <a:ext cx="31302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4A5568"/>
                </a:buClr>
                <a:buSzTx/>
                <a:buFontTx/>
                <a:buChar char="•"/>
              </a:pPr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Quantification CV typically &lt;10% for most proteins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72238" y="3046095"/>
              <a:ext cx="33095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4A5568"/>
                </a:buClr>
                <a:buSzTx/>
                <a:buFontTx/>
                <a:buChar char="•"/>
              </a:pPr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Library-free analysis: DIA-NN, Spectronaut directDIA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286500" y="3486150"/>
              <a:ext cx="5143500" cy="952500"/>
            </a:xfrm>
            <a:prstGeom prst="roundRect">
              <a:avLst>
                <a:gd name="adj" fmla="val 6000"/>
              </a:avLst>
            </a:prstGeom>
            <a:solidFill>
              <a:srgbClr val="EBF0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72047" y="3628549"/>
              <a:ext cx="10159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Key Literature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72238" y="3873341"/>
              <a:ext cx="439798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Gillet et al., 2012, MCP — SWATH-MS: targeted data extraction from DIA spectra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72238" y="4082891"/>
              <a:ext cx="45596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Demichev et al., 2020, Nat. Methods — DIA-NN: deep learning for proteome coverage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2000" y="4667250"/>
            <a:ext cx="10668000" cy="952500"/>
            <a:chOff x="762000" y="4667250"/>
            <a:chExt cx="10668000" cy="952500"/>
          </a:xfrm>
        </p:grpSpPr>
        <p:sp>
          <p:nvSpPr>
            <p:cNvPr id="33" name="Rectangle 33"/>
            <p:cNvSpPr/>
            <p:nvPr/>
          </p:nvSpPr>
          <p:spPr>
            <a:xfrm>
              <a:off x="762000" y="4667250"/>
              <a:ext cx="10668000" cy="952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62000" y="4667250"/>
              <a:ext cx="10668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46404" y="4823460"/>
              <a:ext cx="16087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Emerging Frontiers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7738" y="5122545"/>
              <a:ext cx="95289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Ion Mobility Spectrometry (timsTOF/FAIMS): CCS-based 4th dimension separation enables diaPASEF for ultra-deep coverage (Meier et al., 2018, Nat. Methods)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7738" y="5351145"/>
              <a:ext cx="96847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Single-Cell Proteomics: SCoPE2 multiplexing, N2 carrier proteome, TMT-based quantification — pushing sensitivity to single-cell resolution (Slavov, 2020, Science)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48284" y="280035"/>
            <a:ext cx="7330045" cy="669226"/>
            <a:chOff x="748284" y="280035"/>
            <a:chExt cx="7330045" cy="669226"/>
          </a:xfrm>
        </p:grpSpPr>
        <p:sp>
          <p:nvSpPr>
            <p:cNvPr id="2" name="TextBox 2"/>
            <p:cNvSpPr txBox="1"/>
            <p:nvPr/>
          </p:nvSpPr>
          <p:spPr>
            <a:xfrm>
              <a:off x="748284" y="280035"/>
              <a:ext cx="733004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Technology Platforms &amp; Future Outlook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6666" y="743902"/>
              <a:ext cx="45674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Instrument Capability Matrix and Proteomics Technology Evolution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62000" y="1238250"/>
            <a:ext cx="3429000" cy="2095500"/>
            <a:chOff x="762000" y="1238250"/>
            <a:chExt cx="3429000" cy="2095500"/>
          </a:xfrm>
        </p:grpSpPr>
        <p:sp>
          <p:nvSpPr>
            <p:cNvPr id="5" name="Rectangle 5"/>
            <p:cNvSpPr/>
            <p:nvPr/>
          </p:nvSpPr>
          <p:spPr>
            <a:xfrm>
              <a:off x="762000" y="1238250"/>
              <a:ext cx="3429000" cy="2095500"/>
            </a:xfrm>
            <a:prstGeom prst="roundRect">
              <a:avLst>
                <a:gd name="adj" fmla="val 272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762000" y="1238250"/>
              <a:ext cx="342900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4880" y="1438275"/>
              <a:ext cx="16610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Orbitrap Astral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7738" y="1750695"/>
              <a:ext cx="14624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A0AEC0"/>
                  </a:solidFill>
                  <a:latin typeface="+mn-lt"/>
                  <a:ea typeface="+mn-ea"/>
                  <a:cs typeface="+mn-cs"/>
                </a:rPr>
                <a:t>Thermo Fisher Scientific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52500" y="20002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7547" y="2161699"/>
              <a:ext cx="23714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Resolution: &gt;240K (FWHM) @ m/z 200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7547" y="2409349"/>
              <a:ext cx="25192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Scan Speed: &gt;200 Hz (Astral detector)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7547" y="2656999"/>
              <a:ext cx="25274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Mass Accuracy: &lt;1 ppm (external cal.)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7547" y="2904649"/>
              <a:ext cx="2836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Ideal for: Deep proteome / TMT multiplexing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381500" y="1238250"/>
            <a:ext cx="3429000" cy="2095500"/>
            <a:chOff x="4381500" y="1238250"/>
            <a:chExt cx="3429000" cy="2095500"/>
          </a:xfrm>
        </p:grpSpPr>
        <p:sp>
          <p:nvSpPr>
            <p:cNvPr id="15" name="Rectangle 15"/>
            <p:cNvSpPr/>
            <p:nvPr/>
          </p:nvSpPr>
          <p:spPr>
            <a:xfrm>
              <a:off x="4381500" y="1238250"/>
              <a:ext cx="3429000" cy="2095500"/>
            </a:xfrm>
            <a:prstGeom prst="roundRect">
              <a:avLst>
                <a:gd name="adj" fmla="val 272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381500" y="1238250"/>
              <a:ext cx="3429000" cy="571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64380" y="1438275"/>
              <a:ext cx="14842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timsTOF Ultra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67238" y="1750695"/>
              <a:ext cx="9922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A0AEC0"/>
                  </a:solidFill>
                  <a:latin typeface="+mn-lt"/>
                  <a:ea typeface="+mn-ea"/>
                  <a:cs typeface="+mn-cs"/>
                </a:rPr>
                <a:t>Bruker Daltonics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572000" y="20002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567047" y="2161699"/>
              <a:ext cx="22345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CCS Dimension: Ion mobility (TIMS)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67047" y="2409349"/>
              <a:ext cx="13093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Scan Speed: &gt;120 Hz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67047" y="2656999"/>
              <a:ext cx="22408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diaPASEF: 4D proteomics workflow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67047" y="2904649"/>
              <a:ext cx="27689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Ideal for: Single-cell / high-sensitivity DIA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001000" y="1238250"/>
            <a:ext cx="3429000" cy="2095500"/>
            <a:chOff x="8001000" y="1238250"/>
            <a:chExt cx="3429000" cy="2095500"/>
          </a:xfrm>
        </p:grpSpPr>
        <p:sp>
          <p:nvSpPr>
            <p:cNvPr id="25" name="Rectangle 25"/>
            <p:cNvSpPr/>
            <p:nvPr/>
          </p:nvSpPr>
          <p:spPr>
            <a:xfrm>
              <a:off x="8001000" y="1238250"/>
              <a:ext cx="3429000" cy="2095500"/>
            </a:xfrm>
            <a:prstGeom prst="roundRect">
              <a:avLst>
                <a:gd name="adj" fmla="val 272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001000" y="1238250"/>
              <a:ext cx="34290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183880" y="1438275"/>
              <a:ext cx="1569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ZenoTOF 7600+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86738" y="1750695"/>
              <a:ext cx="3295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A0AEC0"/>
                  </a:solidFill>
                  <a:latin typeface="+mn-lt"/>
                  <a:ea typeface="+mn-ea"/>
                  <a:cs typeface="+mn-cs"/>
                </a:rPr>
                <a:t>SCIEX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8191500" y="20002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186547" y="2161699"/>
              <a:ext cx="2314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Sensitivity: Zeno trap enhancement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86547" y="2409349"/>
              <a:ext cx="25068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SWATH DIA: Mature, robust ecosystem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86547" y="2656999"/>
              <a:ext cx="26704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Throughput: Optimized for large cohorts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86547" y="2904649"/>
              <a:ext cx="27030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Ideal for: Clinical / population proteomics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62000" y="3619500"/>
            <a:ext cx="10668000" cy="1247776"/>
            <a:chOff x="762000" y="3619500"/>
            <a:chExt cx="10668000" cy="1247776"/>
          </a:xfrm>
        </p:grpSpPr>
        <p:sp>
          <p:nvSpPr>
            <p:cNvPr id="35" name="Rectangle 35"/>
            <p:cNvSpPr/>
            <p:nvPr/>
          </p:nvSpPr>
          <p:spPr>
            <a:xfrm>
              <a:off x="762000" y="3619500"/>
              <a:ext cx="10668000" cy="1143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46404" y="3794760"/>
              <a:ext cx="24274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Technology Evolution Timeline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1143000" y="4429125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1466850" y="43719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391739" y="4578191"/>
              <a:ext cx="2645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2003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31378" y="4719638"/>
              <a:ext cx="98524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Shotgun Proteomics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3371850" y="4371975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296739" y="4578191"/>
              <a:ext cx="2645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2012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032188" y="4719638"/>
              <a:ext cx="79362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SWATH-MS / DIA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5276850" y="4371975"/>
              <a:ext cx="114300" cy="114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01739" y="4578191"/>
              <a:ext cx="2645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2018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993958" y="4719638"/>
              <a:ext cx="6800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diaPASEF / 4D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181850" y="4371975"/>
              <a:ext cx="114300" cy="114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06739" y="4578191"/>
              <a:ext cx="2645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53177" y="4719638"/>
              <a:ext cx="97164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DIA-NN / AI Analysis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9086850" y="437197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979864" y="4578191"/>
              <a:ext cx="3282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2024+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89397" y="4719638"/>
              <a:ext cx="110920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Single-Cell Proteomics</a:t>
              </a:r>
            </a:p>
          </p:txBody>
        </p:sp>
        <p:sp>
          <p:nvSpPr>
            <p:cNvPr id="53" name="Polygon 53"/>
            <p:cNvSpPr/>
            <p:nvPr/>
          </p:nvSpPr>
          <p:spPr>
            <a:xfrm>
              <a:off x="11144250" y="4381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663238" y="4586288"/>
              <a:ext cx="34585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Future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62000" y="5048250"/>
            <a:ext cx="15423512" cy="762000"/>
            <a:chOff x="762000" y="5048250"/>
            <a:chExt cx="15423512" cy="762000"/>
          </a:xfrm>
        </p:grpSpPr>
        <p:sp>
          <p:nvSpPr>
            <p:cNvPr id="56" name="Rectangle 56"/>
            <p:cNvSpPr/>
            <p:nvPr/>
          </p:nvSpPr>
          <p:spPr>
            <a:xfrm>
              <a:off x="762000" y="5048250"/>
              <a:ext cx="10668000" cy="762000"/>
            </a:xfrm>
            <a:prstGeom prst="roundRect">
              <a:avLst>
                <a:gd name="adj" fmla="val 7500"/>
              </a:avLst>
            </a:prstGeom>
            <a:solidFill>
              <a:srgbClr val="EBF0F3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46785" y="5212556"/>
              <a:ext cx="8530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Core Trend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47547" y="5495449"/>
              <a:ext cx="15237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The field is transitioning from DDA to DIA, integrating ion mobility as a 4th dimension, and embracing AI-driven data analysis. Single-cell proteomics and large clinical cohort studies represent the two most critical application frontiers.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590550"/>
            <a:chOff x="0" y="0"/>
            <a:chExt cx="12192000" cy="5905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59055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2618251" y="202882"/>
              <a:ext cx="69554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7F4EF"/>
                  </a:solidFill>
                  <a:latin typeface="+mn-lt"/>
                  <a:ea typeface="+mn-ea"/>
                  <a:cs typeface="+mn-cs"/>
                </a:rPr>
                <a:t>Mass Spectrometry Proteomics — Full Experimental Workflow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1500" y="857250"/>
            <a:ext cx="2284327" cy="857250"/>
            <a:chOff x="571500" y="857250"/>
            <a:chExt cx="2284327" cy="857250"/>
          </a:xfrm>
        </p:grpSpPr>
        <p:sp>
          <p:nvSpPr>
            <p:cNvPr id="5" name="Rectangle 5"/>
            <p:cNvSpPr/>
            <p:nvPr/>
          </p:nvSpPr>
          <p:spPr>
            <a:xfrm>
              <a:off x="571500" y="857250"/>
              <a:ext cx="1714500" cy="8572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857250"/>
              <a:ext cx="171450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14400" y="1200150"/>
              <a:ext cx="266700" cy="266700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33475" y="1133475"/>
              <a:ext cx="209550" cy="209550"/>
            </a:xfrm>
            <a:prstGeom prst="ellipse">
              <a:avLst/>
            </a:prstGeom>
            <a:solidFill>
              <a:schemeClr val="accent5">
                <a:alpha val="15000"/>
              </a:scheme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90625" y="1314450"/>
              <a:ext cx="190500" cy="190500"/>
            </a:xfrm>
            <a:prstGeom prst="ellipse">
              <a:avLst/>
            </a:prstGeom>
            <a:solidFill>
              <a:schemeClr val="accent2">
                <a:alpha val="15000"/>
              </a:scheme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23925" y="1333500"/>
              <a:ext cx="152400" cy="152400"/>
            </a:xfrm>
            <a:prstGeom prst="ellipse">
              <a:avLst/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23416" y="1143952"/>
              <a:ext cx="8503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Cell Culture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23988" y="1358741"/>
              <a:ext cx="13194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Mammalian cells / Tissue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23988" y="1511141"/>
              <a:ext cx="14318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Biological replicates (n=3)</a:t>
              </a:r>
            </a:p>
          </p:txBody>
        </p:sp>
      </p:grpSp>
      <p:sp>
        <p:nvSpPr>
          <p:cNvPr id="15" name="Line 15"/>
          <p:cNvSpPr/>
          <p:nvPr/>
        </p:nvSpPr>
        <p:spPr>
          <a:xfrm>
            <a:off x="2333625" y="1285875"/>
            <a:ext cx="333375" cy="9525"/>
          </a:xfrm>
          <a:custGeom>
            <a:avLst/>
            <a:gdLst/>
            <a:ahLst/>
            <a:cxnLst/>
            <a:rect l="l" t="t" r="r" b="b"/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19050">
            <a:solidFill>
              <a:srgbClr val="718096"/>
            </a:solidFill>
          </a:ln>
        </p:spPr>
      </p:sp>
      <p:sp>
        <p:nvSpPr>
          <p:cNvPr id="16" name="Polygon 16"/>
          <p:cNvSpPr/>
          <p:nvPr/>
        </p:nvSpPr>
        <p:spPr>
          <a:xfrm>
            <a:off x="2667000" y="12382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718096"/>
          </a:solidFill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2857500" y="857250"/>
            <a:ext cx="1714500" cy="857250"/>
            <a:chOff x="2857500" y="857250"/>
            <a:chExt cx="1714500" cy="857250"/>
          </a:xfrm>
        </p:grpSpPr>
        <p:sp>
          <p:nvSpPr>
            <p:cNvPr id="17" name="Rectangle 17"/>
            <p:cNvSpPr/>
            <p:nvPr/>
          </p:nvSpPr>
          <p:spPr>
            <a:xfrm>
              <a:off x="2857500" y="857250"/>
              <a:ext cx="1714500" cy="8572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857500" y="857250"/>
              <a:ext cx="171450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025879" y="1048702"/>
              <a:ext cx="1377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Protein Extraction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201801" y="1309688"/>
              <a:ext cx="102589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Lysis / Denaturation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30020" y="1481138"/>
              <a:ext cx="156946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Reduction / Alkylation / Cleanup</a:t>
              </a:r>
            </a:p>
          </p:txBody>
        </p:sp>
      </p:grpSp>
      <p:sp>
        <p:nvSpPr>
          <p:cNvPr id="23" name="Line 23"/>
          <p:cNvSpPr/>
          <p:nvPr/>
        </p:nvSpPr>
        <p:spPr>
          <a:xfrm>
            <a:off x="4619625" y="1476375"/>
            <a:ext cx="381000" cy="238125"/>
          </a:xfrm>
          <a:custGeom>
            <a:avLst/>
            <a:gdLst/>
            <a:ahLst/>
            <a:cxnLst/>
            <a:rect l="l" t="t" r="r" b="b"/>
            <a:pathLst>
              <a:path w="381000" h="238125">
                <a:moveTo>
                  <a:pt x="0" y="0"/>
                </a:moveTo>
                <a:lnTo>
                  <a:pt x="381000" y="238125"/>
                </a:lnTo>
              </a:path>
            </a:pathLst>
          </a:custGeom>
          <a:noFill/>
          <a:ln w="23812">
            <a:solidFill>
              <a:srgbClr val="C0563A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5000625" y="1666875"/>
            <a:ext cx="95250" cy="142875"/>
          </a:xfrm>
          <a:custGeom>
            <a:avLst/>
            <a:gdLst/>
            <a:ahLst/>
            <a:cxnLst/>
            <a:rect l="l" t="t" r="r" b="b"/>
            <a:pathLst>
              <a:path w="95250" h="142875">
                <a:moveTo>
                  <a:pt x="0" y="0"/>
                </a:moveTo>
                <a:lnTo>
                  <a:pt x="95250" y="95250"/>
                </a:lnTo>
                <a:lnTo>
                  <a:pt x="0" y="142875"/>
                </a:lnTo>
                <a:close/>
              </a:path>
            </a:pathLst>
          </a:custGeom>
          <a:solidFill>
            <a:srgbClr val="C0563A"/>
          </a:solidFill>
          <a:ln>
            <a:noFill/>
          </a:ln>
        </p:spPr>
      </p:sp>
      <p:sp>
        <p:nvSpPr>
          <p:cNvPr id="25" name="Line 25"/>
          <p:cNvSpPr/>
          <p:nvPr/>
        </p:nvSpPr>
        <p:spPr>
          <a:xfrm>
            <a:off x="4619625" y="857250"/>
            <a:ext cx="381000" cy="238125"/>
          </a:xfrm>
          <a:custGeom>
            <a:avLst/>
            <a:gdLst/>
            <a:ahLst/>
            <a:cxnLst/>
            <a:rect l="l" t="t" r="r" b="b"/>
            <a:pathLst>
              <a:path w="381000" h="238125">
                <a:moveTo>
                  <a:pt x="0" y="238125"/>
                </a:moveTo>
                <a:lnTo>
                  <a:pt x="381000" y="0"/>
                </a:lnTo>
              </a:path>
            </a:pathLst>
          </a:custGeom>
          <a:noFill/>
          <a:ln w="23812">
            <a:solidFill>
              <a:srgbClr val="3A7CA5"/>
            </a:solidFill>
          </a:ln>
        </p:spPr>
      </p:sp>
      <p:sp>
        <p:nvSpPr>
          <p:cNvPr id="26" name="Polygon 26"/>
          <p:cNvSpPr/>
          <p:nvPr/>
        </p:nvSpPr>
        <p:spPr>
          <a:xfrm>
            <a:off x="5000625" y="809625"/>
            <a:ext cx="95250" cy="142875"/>
          </a:xfrm>
          <a:custGeom>
            <a:avLst/>
            <a:gdLst/>
            <a:ahLst/>
            <a:cxnLst/>
            <a:rect l="l" t="t" r="r" b="b"/>
            <a:pathLst>
              <a:path w="95250" h="142875">
                <a:moveTo>
                  <a:pt x="0" y="0"/>
                </a:moveTo>
                <a:lnTo>
                  <a:pt x="95250" y="95250"/>
                </a:lnTo>
                <a:lnTo>
                  <a:pt x="0" y="142875"/>
                </a:lnTo>
                <a:close/>
              </a:path>
            </a:pathLst>
          </a:custGeom>
          <a:solidFill>
            <a:srgbClr val="3A7CA5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757738" y="927259"/>
            <a:ext cx="456386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PARALLEL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757738" y="1051084"/>
            <a:ext cx="563024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PROCESSING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128662" y="1238250"/>
            <a:ext cx="2125176" cy="1047750"/>
            <a:chOff x="5128662" y="1238250"/>
            <a:chExt cx="2125176" cy="1047750"/>
          </a:xfrm>
        </p:grpSpPr>
        <p:sp>
          <p:nvSpPr>
            <p:cNvPr id="29" name="Rectangle 29"/>
            <p:cNvSpPr/>
            <p:nvPr/>
          </p:nvSpPr>
          <p:spPr>
            <a:xfrm>
              <a:off x="5191125" y="1238250"/>
              <a:ext cx="2000250" cy="1047750"/>
            </a:xfrm>
            <a:prstGeom prst="roundRect">
              <a:avLst>
                <a:gd name="adj" fmla="val 9091"/>
              </a:avLst>
            </a:prstGeom>
            <a:gradFill>
              <a:gsLst>
                <a:gs pos="0">
                  <a:srgbClr val="C0563A">
                    <a:alpha val="12000"/>
                  </a:srgbClr>
                </a:gs>
                <a:gs pos="100000">
                  <a:srgbClr val="C0563A">
                    <a:alpha val="4000"/>
                  </a:srgbClr>
                </a:gs>
              </a:gsLst>
              <a:lin ang="5400000" scaled="1"/>
            </a:gradFill>
            <a:ln w="19050">
              <a:solidFill>
                <a:srgbClr val="C0563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191125" y="1238250"/>
              <a:ext cx="2000250" cy="57150"/>
            </a:xfrm>
            <a:prstGeom prst="rect">
              <a:avLst/>
            </a:prstGeom>
            <a:solidFill>
              <a:srgbClr val="C0563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330569" y="1383506"/>
              <a:ext cx="17213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0563A"/>
                  </a:solidFill>
                  <a:latin typeface="+mn-lt"/>
                  <a:ea typeface="+mn-ea"/>
                  <a:cs typeface="+mn-cs"/>
                </a:rPr>
                <a:t>Drug Treatment Group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26903" y="1644491"/>
              <a:ext cx="152869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Ligand / Inhibitor incubation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128662" y="1815941"/>
              <a:ext cx="21251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Target binding / Conformational change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91171" y="2033588"/>
              <a:ext cx="80015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A0AEC0"/>
                  </a:solidFill>
                  <a:latin typeface="+mn-lt"/>
                  <a:ea typeface="+mn-ea"/>
                  <a:cs typeface="+mn-cs"/>
                </a:rPr>
                <a:t>TMT-126 labeled</a:t>
              </a:r>
            </a:p>
          </p:txBody>
        </p:sp>
      </p:grpSp>
      <p:sp>
        <p:nvSpPr>
          <p:cNvPr id="36" name="Line 36"/>
          <p:cNvSpPr/>
          <p:nvPr/>
        </p:nvSpPr>
        <p:spPr>
          <a:xfrm>
            <a:off x="7239000" y="1762125"/>
            <a:ext cx="381000" cy="904875"/>
          </a:xfrm>
          <a:custGeom>
            <a:avLst/>
            <a:gdLst/>
            <a:ahLst/>
            <a:cxnLst/>
            <a:rect l="l" t="t" r="r" b="b"/>
            <a:pathLst>
              <a:path w="381000" h="904875">
                <a:moveTo>
                  <a:pt x="0" y="0"/>
                </a:moveTo>
                <a:lnTo>
                  <a:pt x="381000" y="904875"/>
                </a:lnTo>
              </a:path>
            </a:pathLst>
          </a:custGeom>
          <a:noFill/>
          <a:ln w="23812">
            <a:solidFill>
              <a:srgbClr val="C0563A"/>
            </a:solidFill>
          </a:ln>
        </p:spPr>
      </p:sp>
      <p:sp>
        <p:nvSpPr>
          <p:cNvPr id="37" name="Polygon 37"/>
          <p:cNvSpPr/>
          <p:nvPr/>
        </p:nvSpPr>
        <p:spPr>
          <a:xfrm>
            <a:off x="7620000" y="2619375"/>
            <a:ext cx="95250" cy="142875"/>
          </a:xfrm>
          <a:custGeom>
            <a:avLst/>
            <a:gdLst/>
            <a:ahLst/>
            <a:cxnLst/>
            <a:rect l="l" t="t" r="r" b="b"/>
            <a:pathLst>
              <a:path w="95250" h="142875">
                <a:moveTo>
                  <a:pt x="0" y="0"/>
                </a:moveTo>
                <a:lnTo>
                  <a:pt x="95250" y="95250"/>
                </a:lnTo>
                <a:lnTo>
                  <a:pt x="0" y="142875"/>
                </a:lnTo>
                <a:close/>
              </a:path>
            </a:pathLst>
          </a:custGeom>
          <a:solidFill>
            <a:srgbClr val="C0563A"/>
          </a:solidFill>
          <a:ln>
            <a:noFill/>
          </a:ln>
        </p:spPr>
      </p:sp>
      <p:grpSp>
        <p:nvGrpSpPr>
          <p:cNvPr id="44" name="Group 44"/>
          <p:cNvGrpSpPr/>
          <p:nvPr/>
        </p:nvGrpSpPr>
        <p:grpSpPr>
          <a:xfrm>
            <a:off x="5191125" y="2571750"/>
            <a:ext cx="2000250" cy="1047750"/>
            <a:chOff x="5191125" y="2571750"/>
            <a:chExt cx="2000250" cy="1047750"/>
          </a:xfrm>
        </p:grpSpPr>
        <p:sp>
          <p:nvSpPr>
            <p:cNvPr id="38" name="Rectangle 38"/>
            <p:cNvSpPr/>
            <p:nvPr/>
          </p:nvSpPr>
          <p:spPr>
            <a:xfrm>
              <a:off x="5191125" y="2571750"/>
              <a:ext cx="2000250" cy="1047750"/>
            </a:xfrm>
            <a:prstGeom prst="roundRect">
              <a:avLst>
                <a:gd name="adj" fmla="val 9091"/>
              </a:avLst>
            </a:prstGeom>
            <a:gradFill>
              <a:gsLst>
                <a:gs pos="0">
                  <a:srgbClr val="3A7CA5">
                    <a:alpha val="12000"/>
                  </a:srgbClr>
                </a:gs>
                <a:gs pos="100000">
                  <a:srgbClr val="3A7CA5">
                    <a:alpha val="4000"/>
                  </a:srgbClr>
                </a:gs>
              </a:gsLst>
              <a:lin ang="5400000" scaled="1"/>
            </a:gradFill>
            <a:ln w="19050">
              <a:solidFill>
                <a:srgbClr val="3A7CA5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191125" y="2571750"/>
              <a:ext cx="2000250" cy="57150"/>
            </a:xfrm>
            <a:prstGeom prst="rect">
              <a:avLst/>
            </a:prstGeom>
            <a:solidFill>
              <a:srgbClr val="3A7CA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362936" y="2717006"/>
              <a:ext cx="16566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A7CA5"/>
                  </a:solidFill>
                  <a:latin typeface="+mn-lt"/>
                  <a:ea typeface="+mn-ea"/>
                  <a:cs typeface="+mn-cs"/>
                </a:rPr>
                <a:t>Vehicle Control Group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662805" y="2977991"/>
              <a:ext cx="10568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DMSO / Buffer only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594052" y="3149441"/>
              <a:ext cx="11943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No target engagement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761434" y="3367088"/>
              <a:ext cx="85963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A0AEC0"/>
                  </a:solidFill>
                  <a:latin typeface="+mn-lt"/>
                  <a:ea typeface="+mn-ea"/>
                  <a:cs typeface="+mn-cs"/>
                </a:rPr>
                <a:t>TMT-127N labeled</a:t>
              </a:r>
            </a:p>
          </p:txBody>
        </p:sp>
      </p:grpSp>
      <p:sp>
        <p:nvSpPr>
          <p:cNvPr id="45" name="Line 45"/>
          <p:cNvSpPr/>
          <p:nvPr/>
        </p:nvSpPr>
        <p:spPr>
          <a:xfrm>
            <a:off x="7239000" y="2857500"/>
            <a:ext cx="381000" cy="238125"/>
          </a:xfrm>
          <a:custGeom>
            <a:avLst/>
            <a:gdLst/>
            <a:ahLst/>
            <a:cxnLst/>
            <a:rect l="l" t="t" r="r" b="b"/>
            <a:pathLst>
              <a:path w="381000" h="238125">
                <a:moveTo>
                  <a:pt x="0" y="238125"/>
                </a:moveTo>
                <a:lnTo>
                  <a:pt x="381000" y="0"/>
                </a:lnTo>
              </a:path>
            </a:pathLst>
          </a:custGeom>
          <a:noFill/>
          <a:ln w="23812">
            <a:solidFill>
              <a:srgbClr val="3A7CA5"/>
            </a:solidFill>
          </a:ln>
        </p:spPr>
      </p:sp>
      <p:sp>
        <p:nvSpPr>
          <p:cNvPr id="46" name="Polygon 46"/>
          <p:cNvSpPr/>
          <p:nvPr/>
        </p:nvSpPr>
        <p:spPr>
          <a:xfrm>
            <a:off x="7620000" y="2809875"/>
            <a:ext cx="95250" cy="142875"/>
          </a:xfrm>
          <a:custGeom>
            <a:avLst/>
            <a:gdLst/>
            <a:ahLst/>
            <a:cxnLst/>
            <a:rect l="l" t="t" r="r" b="b"/>
            <a:pathLst>
              <a:path w="95250" h="142875">
                <a:moveTo>
                  <a:pt x="0" y="0"/>
                </a:moveTo>
                <a:lnTo>
                  <a:pt x="95250" y="95250"/>
                </a:lnTo>
                <a:lnTo>
                  <a:pt x="0" y="142875"/>
                </a:lnTo>
                <a:close/>
              </a:path>
            </a:pathLst>
          </a:custGeom>
          <a:solidFill>
            <a:srgbClr val="3A7CA5"/>
          </a:solidFill>
          <a:ln>
            <a:noFill/>
          </a:ln>
        </p:spPr>
      </p:sp>
      <p:grpSp>
        <p:nvGrpSpPr>
          <p:cNvPr id="50" name="Group 50"/>
          <p:cNvGrpSpPr/>
          <p:nvPr/>
        </p:nvGrpSpPr>
        <p:grpSpPr>
          <a:xfrm>
            <a:off x="7762875" y="2476500"/>
            <a:ext cx="857250" cy="584359"/>
            <a:chOff x="7762875" y="2476500"/>
            <a:chExt cx="857250" cy="584359"/>
          </a:xfrm>
        </p:grpSpPr>
        <p:sp>
          <p:nvSpPr>
            <p:cNvPr id="47" name="Rectangle 47"/>
            <p:cNvSpPr/>
            <p:nvPr/>
          </p:nvSpPr>
          <p:spPr>
            <a:xfrm>
              <a:off x="7762875" y="2476500"/>
              <a:ext cx="857250" cy="571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901890" y="2696528"/>
              <a:ext cx="579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Combine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69888" y="2927509"/>
              <a:ext cx="443225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FFFFFF">
                      <a:alphaMod val="80000"/>
                    </a:srgbClr>
                  </a:solidFill>
                  <a:latin typeface="+mn-lt"/>
                  <a:ea typeface="+mn-ea"/>
                  <a:cs typeface="+mn-cs"/>
                </a:rPr>
                <a:t>Mix 1:1:1</a:t>
              </a:r>
            </a:p>
          </p:txBody>
        </p:sp>
      </p:grpSp>
      <p:sp>
        <p:nvSpPr>
          <p:cNvPr id="51" name="Line 51"/>
          <p:cNvSpPr/>
          <p:nvPr/>
        </p:nvSpPr>
        <p:spPr>
          <a:xfrm>
            <a:off x="8667750" y="2762250"/>
            <a:ext cx="333375" cy="9525"/>
          </a:xfrm>
          <a:custGeom>
            <a:avLst/>
            <a:gdLst/>
            <a:ahLst/>
            <a:cxnLst/>
            <a:rect l="l" t="t" r="r" b="b"/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23812">
            <a:solidFill>
              <a:srgbClr val="718096"/>
            </a:solidFill>
          </a:ln>
        </p:spPr>
      </p:sp>
      <p:sp>
        <p:nvSpPr>
          <p:cNvPr id="52" name="Polygon 52"/>
          <p:cNvSpPr/>
          <p:nvPr/>
        </p:nvSpPr>
        <p:spPr>
          <a:xfrm>
            <a:off x="9001125" y="27146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718096"/>
          </a:solidFill>
          <a:ln>
            <a:noFill/>
          </a:ln>
        </p:spPr>
      </p:sp>
      <p:grpSp>
        <p:nvGrpSpPr>
          <p:cNvPr id="58" name="Group 58"/>
          <p:cNvGrpSpPr/>
          <p:nvPr/>
        </p:nvGrpSpPr>
        <p:grpSpPr>
          <a:xfrm>
            <a:off x="9191625" y="2381250"/>
            <a:ext cx="1524000" cy="762000"/>
            <a:chOff x="9191625" y="2381250"/>
            <a:chExt cx="1524000" cy="762000"/>
          </a:xfrm>
        </p:grpSpPr>
        <p:sp>
          <p:nvSpPr>
            <p:cNvPr id="53" name="Rectangle 53"/>
            <p:cNvSpPr/>
            <p:nvPr/>
          </p:nvSpPr>
          <p:spPr>
            <a:xfrm>
              <a:off x="9191625" y="2381250"/>
              <a:ext cx="15240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9191625" y="2381250"/>
              <a:ext cx="152400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324259" y="2553652"/>
              <a:ext cx="12587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Trypsin Digestion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75280" y="2795588"/>
              <a:ext cx="95669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Enzymatic cleavage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391460" y="2947988"/>
              <a:ext cx="112433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~100K peptides/sample</a:t>
              </a:r>
            </a:p>
          </p:txBody>
        </p:sp>
      </p:grpSp>
      <p:sp>
        <p:nvSpPr>
          <p:cNvPr id="59" name="Line 59"/>
          <p:cNvSpPr/>
          <p:nvPr/>
        </p:nvSpPr>
        <p:spPr>
          <a:xfrm>
            <a:off x="10763250" y="2762250"/>
            <a:ext cx="333375" cy="9525"/>
          </a:xfrm>
          <a:custGeom>
            <a:avLst/>
            <a:gdLst/>
            <a:ahLst/>
            <a:cxnLst/>
            <a:rect l="l" t="t" r="r" b="b"/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23812">
            <a:solidFill>
              <a:srgbClr val="718096"/>
            </a:solidFill>
          </a:ln>
        </p:spPr>
      </p:sp>
      <p:sp>
        <p:nvSpPr>
          <p:cNvPr id="60" name="Polygon 60"/>
          <p:cNvSpPr/>
          <p:nvPr/>
        </p:nvSpPr>
        <p:spPr>
          <a:xfrm>
            <a:off x="11096625" y="27146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718096"/>
          </a:solidFill>
          <a:ln>
            <a:noFill/>
          </a:ln>
        </p:spPr>
      </p:sp>
      <p:grpSp>
        <p:nvGrpSpPr>
          <p:cNvPr id="66" name="Group 66"/>
          <p:cNvGrpSpPr/>
          <p:nvPr/>
        </p:nvGrpSpPr>
        <p:grpSpPr>
          <a:xfrm>
            <a:off x="571500" y="3333750"/>
            <a:ext cx="2095500" cy="762000"/>
            <a:chOff x="571500" y="3333750"/>
            <a:chExt cx="2095500" cy="762000"/>
          </a:xfrm>
        </p:grpSpPr>
        <p:sp>
          <p:nvSpPr>
            <p:cNvPr id="61" name="Rectangle 61"/>
            <p:cNvSpPr/>
            <p:nvPr/>
          </p:nvSpPr>
          <p:spPr>
            <a:xfrm>
              <a:off x="571500" y="3333750"/>
              <a:ext cx="20955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571500" y="3333750"/>
              <a:ext cx="209550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113441" y="3525202"/>
              <a:ext cx="10116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LC Separation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56120" y="3767138"/>
              <a:ext cx="132626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RP-HPLC · Gradient elution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01500" y="3919538"/>
              <a:ext cx="183550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Peptide fractionation (15 fractions)</a:t>
              </a:r>
            </a:p>
          </p:txBody>
        </p:sp>
      </p:grpSp>
      <p:sp>
        <p:nvSpPr>
          <p:cNvPr id="67" name="Line 67"/>
          <p:cNvSpPr/>
          <p:nvPr/>
        </p:nvSpPr>
        <p:spPr>
          <a:xfrm>
            <a:off x="2714625" y="371475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19050">
            <a:solidFill>
              <a:srgbClr val="718096"/>
            </a:solidFill>
          </a:ln>
        </p:spPr>
      </p:sp>
      <p:sp>
        <p:nvSpPr>
          <p:cNvPr id="68" name="Polygon 68"/>
          <p:cNvSpPr/>
          <p:nvPr/>
        </p:nvSpPr>
        <p:spPr>
          <a:xfrm>
            <a:off x="3190875" y="3667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718096"/>
          </a:solidFill>
          <a:ln>
            <a:noFill/>
          </a:ln>
        </p:spPr>
      </p:sp>
      <p:grpSp>
        <p:nvGrpSpPr>
          <p:cNvPr id="76" name="Group 76"/>
          <p:cNvGrpSpPr/>
          <p:nvPr/>
        </p:nvGrpSpPr>
        <p:grpSpPr>
          <a:xfrm>
            <a:off x="3381375" y="3333750"/>
            <a:ext cx="2762250" cy="1146334"/>
            <a:chOff x="3381375" y="3333750"/>
            <a:chExt cx="2762250" cy="1146334"/>
          </a:xfrm>
        </p:grpSpPr>
        <p:sp>
          <p:nvSpPr>
            <p:cNvPr id="69" name="Rectangle 69"/>
            <p:cNvSpPr/>
            <p:nvPr/>
          </p:nvSpPr>
          <p:spPr>
            <a:xfrm>
              <a:off x="3381375" y="3333750"/>
              <a:ext cx="276225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3381375" y="3333750"/>
              <a:ext cx="276225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024213" y="3479006"/>
              <a:ext cx="14765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LC-MS/MS Analysis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076390" y="3759041"/>
              <a:ext cx="13722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ESI nano-spray ionization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878926" y="3949541"/>
              <a:ext cx="17671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Orbitrap MS1 full scan (R=120K)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3982712" y="4140041"/>
              <a:ext cx="155957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Top-20 HCD MS/MS (NCE=28)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134002" y="4346734"/>
              <a:ext cx="1256995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A0AEC0"/>
                  </a:solidFill>
                  <a:latin typeface="+mn-lt"/>
                  <a:ea typeface="+mn-ea"/>
                  <a:cs typeface="+mn-cs"/>
                </a:rPr>
                <a:t>DDA mode · 120 min gradient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6286500" y="3381375"/>
            <a:ext cx="1428750" cy="584359"/>
            <a:chOff x="6286500" y="3381375"/>
            <a:chExt cx="1428750" cy="584359"/>
          </a:xfrm>
        </p:grpSpPr>
        <p:sp>
          <p:nvSpPr>
            <p:cNvPr id="77" name="Rectangle 77"/>
            <p:cNvSpPr/>
            <p:nvPr/>
          </p:nvSpPr>
          <p:spPr>
            <a:xfrm>
              <a:off x="6286500" y="3381375"/>
              <a:ext cx="1428750" cy="381000"/>
            </a:xfrm>
            <a:prstGeom prst="roundRect">
              <a:avLst>
                <a:gd name="adj" fmla="val 7500"/>
              </a:avLst>
            </a:prstGeom>
            <a:solidFill>
              <a:srgbClr val="EBF0F3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6381750" y="3524250"/>
              <a:ext cx="57150" cy="17145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6496050" y="3571875"/>
              <a:ext cx="57150" cy="123825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6610350" y="3448050"/>
              <a:ext cx="57150" cy="247650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6724650" y="3600450"/>
              <a:ext cx="57150" cy="9525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838950" y="3409950"/>
              <a:ext cx="57150" cy="28575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953250" y="3543300"/>
              <a:ext cx="57150" cy="15240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7067550" y="3476625"/>
              <a:ext cx="57150" cy="219075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7181850" y="3581400"/>
              <a:ext cx="57150" cy="11430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7296150" y="3457575"/>
              <a:ext cx="57150" cy="238125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7410450" y="3590925"/>
              <a:ext cx="57150" cy="104775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709121" y="3832384"/>
              <a:ext cx="5835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A0AEC0"/>
                  </a:solidFill>
                  <a:latin typeface="+mn-lt"/>
                  <a:ea typeface="+mn-ea"/>
                  <a:cs typeface="+mn-cs"/>
                </a:rPr>
                <a:t>MS spectrum</a:t>
              </a:r>
            </a:p>
          </p:txBody>
        </p:sp>
      </p:grpSp>
      <p:sp>
        <p:nvSpPr>
          <p:cNvPr id="90" name="Line 90"/>
          <p:cNvSpPr/>
          <p:nvPr/>
        </p:nvSpPr>
        <p:spPr>
          <a:xfrm>
            <a:off x="6191250" y="371475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718096"/>
            </a:solidFill>
          </a:ln>
        </p:spPr>
      </p:sp>
      <p:sp>
        <p:nvSpPr>
          <p:cNvPr id="91" name="Polygon 91"/>
          <p:cNvSpPr/>
          <p:nvPr/>
        </p:nvSpPr>
        <p:spPr>
          <a:xfrm>
            <a:off x="6572250" y="3667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718096"/>
          </a:solidFill>
          <a:ln>
            <a:noFill/>
          </a:ln>
        </p:spPr>
      </p:sp>
      <p:grpSp>
        <p:nvGrpSpPr>
          <p:cNvPr id="99" name="Group 99"/>
          <p:cNvGrpSpPr/>
          <p:nvPr/>
        </p:nvGrpSpPr>
        <p:grpSpPr>
          <a:xfrm>
            <a:off x="6762750" y="3333750"/>
            <a:ext cx="2286000" cy="1146334"/>
            <a:chOff x="6762750" y="3333750"/>
            <a:chExt cx="2286000" cy="1146334"/>
          </a:xfrm>
        </p:grpSpPr>
        <p:sp>
          <p:nvSpPr>
            <p:cNvPr id="92" name="Rectangle 92"/>
            <p:cNvSpPr/>
            <p:nvPr/>
          </p:nvSpPr>
          <p:spPr>
            <a:xfrm>
              <a:off x="6762750" y="3333750"/>
              <a:ext cx="228600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6762750" y="3333750"/>
              <a:ext cx="228600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020640" y="3479006"/>
              <a:ext cx="1770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Computational Analysis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111180" y="3759041"/>
              <a:ext cx="15891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Database search (MaxQuant)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319235" y="3949541"/>
              <a:ext cx="117302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Protein ID (FDR &lt; 1%)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7040289" y="4140041"/>
              <a:ext cx="17309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TMT reporter ion quantification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223650" y="4346734"/>
              <a:ext cx="136419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680" dirty="0">
                  <a:solidFill>
                    <a:srgbClr val="A0AEC0"/>
                  </a:solidFill>
                  <a:latin typeface="+mn-lt"/>
                  <a:ea typeface="+mn-ea"/>
                  <a:cs typeface="+mn-cs"/>
                </a:rPr>
                <a:t>LFQ / TMT-MS2 quantification</a:t>
              </a:r>
            </a:p>
          </p:txBody>
        </p:sp>
      </p:grpSp>
      <p:sp>
        <p:nvSpPr>
          <p:cNvPr id="100" name="Line 100"/>
          <p:cNvSpPr/>
          <p:nvPr/>
        </p:nvSpPr>
        <p:spPr>
          <a:xfrm>
            <a:off x="9096375" y="3714750"/>
            <a:ext cx="333375" cy="9525"/>
          </a:xfrm>
          <a:custGeom>
            <a:avLst/>
            <a:gdLst/>
            <a:ahLst/>
            <a:cxnLst/>
            <a:rect l="l" t="t" r="r" b="b"/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23812">
            <a:solidFill>
              <a:schemeClr val="accent2"/>
            </a:solidFill>
          </a:ln>
        </p:spPr>
      </p:sp>
      <p:sp>
        <p:nvSpPr>
          <p:cNvPr id="101" name="Polygon 101"/>
          <p:cNvSpPr/>
          <p:nvPr/>
        </p:nvSpPr>
        <p:spPr>
          <a:xfrm>
            <a:off x="9429750" y="3667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grpSp>
        <p:nvGrpSpPr>
          <p:cNvPr id="108" name="Group 108"/>
          <p:cNvGrpSpPr/>
          <p:nvPr/>
        </p:nvGrpSpPr>
        <p:grpSpPr>
          <a:xfrm>
            <a:off x="9620250" y="3286125"/>
            <a:ext cx="2000250" cy="1238250"/>
            <a:chOff x="9620250" y="3286125"/>
            <a:chExt cx="2000250" cy="1238250"/>
          </a:xfrm>
        </p:grpSpPr>
        <p:sp>
          <p:nvSpPr>
            <p:cNvPr id="102" name="Rectangle 102"/>
            <p:cNvSpPr/>
            <p:nvPr/>
          </p:nvSpPr>
          <p:spPr>
            <a:xfrm>
              <a:off x="9620250" y="3286125"/>
              <a:ext cx="2000250" cy="1238250"/>
            </a:xfrm>
            <a:prstGeom prst="roundRect">
              <a:avLst>
                <a:gd name="adj" fmla="val 769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9667806" y="3489960"/>
              <a:ext cx="19051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Differential Abundance</a:t>
              </a:r>
            </a:p>
          </p:txBody>
        </p:sp>
        <p:sp>
          <p:nvSpPr>
            <p:cNvPr id="104" name="Line 104"/>
            <p:cNvSpPr/>
            <p:nvPr/>
          </p:nvSpPr>
          <p:spPr>
            <a:xfrm>
              <a:off x="9810750" y="3752850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4762">
              <a:solidFill>
                <a:srgbClr val="FFFFFF">
                  <a:alpha val="40000"/>
                </a:srgbClr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9964512" y="3892391"/>
              <a:ext cx="13117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FFFFFF">
                      <a:alphaMod val="90000"/>
                    </a:srgbClr>
                  </a:solidFill>
                  <a:latin typeface="+mn-lt"/>
                  <a:ea typeface="+mn-ea"/>
                  <a:cs typeface="+mn-cs"/>
                </a:rPr>
                <a:t>Fold Change (Drug/Ctrl)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9999963" y="4101941"/>
              <a:ext cx="12408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FFFFFF">
                      <a:alphaMod val="90000"/>
                    </a:srgbClr>
                  </a:solidFill>
                  <a:latin typeface="+mn-lt"/>
                  <a:ea typeface="+mn-ea"/>
                  <a:cs typeface="+mn-cs"/>
                </a:rPr>
                <a:t>Volcano Plot · Heatmap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0071107" y="4311491"/>
              <a:ext cx="109853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FFFFFF">
                      <a:alphaMod val="90000"/>
                    </a:srgbClr>
                  </a:solidFill>
                  <a:latin typeface="+mn-lt"/>
                  <a:ea typeface="+mn-ea"/>
                  <a:cs typeface="+mn-cs"/>
                </a:rPr>
                <a:t>Pathway Enrichment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0" y="4762500"/>
            <a:ext cx="12192000" cy="2095500"/>
            <a:chOff x="0" y="4762500"/>
            <a:chExt cx="12192000" cy="2095500"/>
          </a:xfrm>
        </p:grpSpPr>
        <p:sp>
          <p:nvSpPr>
            <p:cNvPr id="109" name="Rectangle 109"/>
            <p:cNvSpPr/>
            <p:nvPr/>
          </p:nvSpPr>
          <p:spPr>
            <a:xfrm>
              <a:off x="0" y="4762500"/>
              <a:ext cx="12192000" cy="2095500"/>
            </a:xfrm>
            <a:prstGeom prst="rect">
              <a:avLst/>
            </a:prstGeom>
            <a:solidFill>
              <a:srgbClr val="EBF0F3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566547" y="4942999"/>
              <a:ext cx="10223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Pipeline Stages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571500" y="5162550"/>
              <a:ext cx="114300" cy="1143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738188" y="5186362"/>
              <a:ext cx="59664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Sample Prep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1619250" y="5162550"/>
              <a:ext cx="114300" cy="114300"/>
            </a:xfrm>
            <a:prstGeom prst="roundRect">
              <a:avLst>
                <a:gd name="adj" fmla="val 16667"/>
              </a:avLst>
            </a:prstGeom>
            <a:solidFill>
              <a:srgbClr val="C0563A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1785938" y="5186362"/>
              <a:ext cx="78863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Drug Treatment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2857500" y="5162550"/>
              <a:ext cx="114300" cy="114300"/>
            </a:xfrm>
            <a:prstGeom prst="roundRect">
              <a:avLst>
                <a:gd name="adj" fmla="val 16667"/>
              </a:avLst>
            </a:prstGeom>
            <a:solidFill>
              <a:srgbClr val="3A7CA5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3024188" y="5186362"/>
              <a:ext cx="7474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Vehicle Control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4095750" y="5162550"/>
              <a:ext cx="114300" cy="1143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4262438" y="5186362"/>
              <a:ext cx="78475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Merge / Output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566547" y="5533549"/>
              <a:ext cx="10788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A365D"/>
                  </a:solidFill>
                  <a:latin typeface="+mn-lt"/>
                  <a:ea typeface="+mn-ea"/>
                  <a:cs typeface="+mn-cs"/>
                </a:rPr>
                <a:t>Key Parameters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566738" y="5778341"/>
              <a:ext cx="30908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Experimental Design: 3 biological replicates per condition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566738" y="5968841"/>
              <a:ext cx="459538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Quantification: TMTpro 18-plex isobaric labeling or Label-Free Quantification (LFQ)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566738" y="6159341"/>
              <a:ext cx="34576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Instrument: Orbitrap Eclipse / Astral with FAIMS Pro interface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566738" y="6349841"/>
              <a:ext cx="468254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Software: MaxQuant v2.x / Proteome Discoverer 3.x / Spectronaut 18.x / DIA-NN 1.8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566738" y="6540341"/>
              <a:ext cx="42200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A5568"/>
                  </a:solidFill>
                  <a:latin typeface="+mn-lt"/>
                  <a:ea typeface="+mn-ea"/>
                  <a:cs typeface="+mn-cs"/>
                </a:rPr>
                <a:t>Statistical Filter: |log2 FC| &gt; 1, adjusted p-value &lt; 0.05 (Benjamini-Hochberg)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10508004" y="6548438"/>
              <a:ext cx="130775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rgbClr val="A0AEC0"/>
                  </a:solidFill>
                  <a:latin typeface="+mn-lt"/>
                  <a:ea typeface="+mn-ea"/>
                  <a:cs typeface="+mn-cs"/>
                </a:rPr>
                <a:t>05 — Full Pipeline Workflow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s_proteomics_2026">
  <a:themeElements>
    <a:clrScheme name="ms_proteomics_2026">
      <a:dk1>
        <a:srgbClr val="1A202C"/>
      </a:dk1>
      <a:lt1>
        <a:srgbClr val="F7F4EF"/>
      </a:lt1>
      <a:dk2>
        <a:srgbClr val="1A202C"/>
      </a:dk2>
      <a:lt2>
        <a:srgbClr val="F7F4EF"/>
      </a:lt2>
      <a:accent1>
        <a:srgbClr val="2C5282"/>
      </a:accent1>
      <a:accent2>
        <a:srgbClr val="C0784A"/>
      </a:accent2>
      <a:accent3>
        <a:srgbClr val="C0784A"/>
      </a:accent3>
      <a:accent4>
        <a:srgbClr val="2C5282"/>
      </a:accent4>
      <a:accent5>
        <a:srgbClr val="4A7A8C"/>
      </a:accent5>
      <a:accent6>
        <a:srgbClr val="718096"/>
      </a:accent6>
      <a:hlink>
        <a:srgbClr val="C0784A"/>
      </a:hlink>
      <a:folHlink>
        <a:srgbClr val="C0784A"/>
      </a:folHlink>
    </a:clrScheme>
    <a:fontScheme name="ms_proteomics_2026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s_proteomics_202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2026-07-24T17:05:57Z</dcterms:created>
  <dcterms:modified xsi:type="dcterms:W3CDTF">2026-07-24T17:05:57Z</dcterms:modified>
  <cp:category/>
  <cp:contentStatus/>
</cp:coreProperties>
</file>